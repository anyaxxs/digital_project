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STUR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11480" y="6473952"/>
            <a:ext cx="11338560" cy="1"/>
          </a:xfrm>
          <a:prstGeom prst="line">
            <a:avLst/>
          </a:prstGeom>
          <a:ln w="12700">
            <a:solidFill>
              <a:srgbClr val="D7DE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Text 1"/>
          <p:cNvSpPr txBox="1"/>
          <p:nvPr/>
        </p:nvSpPr>
        <p:spPr>
          <a:xfrm>
            <a:off x="502919" y="6565899"/>
            <a:ext cx="6583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Учебный цифровой проект: YOLO Pose + геометрия осанки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"/>
          <p:cNvSpPr/>
          <p:nvPr/>
        </p:nvSpPr>
        <p:spPr>
          <a:xfrm>
            <a:off x="566927" y="438912"/>
            <a:ext cx="1600201" cy="29260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2"/>
          <p:cNvSpPr txBox="1"/>
          <p:nvPr/>
        </p:nvSpPr>
        <p:spPr>
          <a:xfrm>
            <a:off x="640080" y="475487"/>
            <a:ext cx="145389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ЦИФРОВОЙ ПРОЕКТ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566928" y="1097280"/>
            <a:ext cx="5669280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900">
                <a:solidFill>
                  <a:srgbClr val="0F172A"/>
                </a:solidFill>
              </a:defRPr>
            </a:pPr>
            <a:r>
              <a:t>Анализ осанки</a:t>
            </a:r>
          </a:p>
          <a:p>
            <a:pPr>
              <a:defRPr b="1" sz="2900">
                <a:solidFill>
                  <a:srgbClr val="0F172A"/>
                </a:solidFill>
              </a:defRPr>
            </a:pPr>
            <a:r>
              <a:t>человека по фото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594359" y="2487167"/>
            <a:ext cx="4892042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YOLO Pose определяет ключевые точки тела, а наш код по геометрии считает углы, смещения и итоговую учебную оценку.</a:t>
            </a:r>
          </a:p>
        </p:txBody>
      </p:sp>
      <p:sp>
        <p:nvSpPr>
          <p:cNvPr id="34" name="Shape 5"/>
          <p:cNvSpPr/>
          <p:nvPr/>
        </p:nvSpPr>
        <p:spPr>
          <a:xfrm>
            <a:off x="594359" y="3703320"/>
            <a:ext cx="1828801" cy="822961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768095" y="3825515"/>
            <a:ext cx="148132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2563EB"/>
                </a:solidFill>
              </a:defRPr>
            </a:lvl1pPr>
          </a:lstStyle>
          <a:p>
            <a:pPr/>
            <a:r>
              <a:t>64–84/100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749808" y="4114800"/>
            <a:ext cx="150876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475569"/>
                </a:solidFill>
              </a:defRPr>
            </a:lvl1pPr>
          </a:lstStyle>
          <a:p>
            <a:pPr/>
            <a:r>
              <a:t>диапазон оценок на тестовых фото</a:t>
            </a:r>
          </a:p>
        </p:txBody>
      </p:sp>
      <p:sp>
        <p:nvSpPr>
          <p:cNvPr id="37" name="Shape 8"/>
          <p:cNvSpPr/>
          <p:nvPr/>
        </p:nvSpPr>
        <p:spPr>
          <a:xfrm>
            <a:off x="2651760" y="3703320"/>
            <a:ext cx="2011680" cy="822961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9"/>
          <p:cNvSpPr txBox="1"/>
          <p:nvPr/>
        </p:nvSpPr>
        <p:spPr>
          <a:xfrm>
            <a:off x="2770632" y="3845512"/>
            <a:ext cx="177393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F766E"/>
                </a:solidFill>
              </a:defRPr>
            </a:lvl1pPr>
          </a:lstStyle>
          <a:p>
            <a:pPr/>
            <a:r>
              <a:t>PNG + TXT + JSON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2907792" y="4114800"/>
            <a:ext cx="150876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475569"/>
                </a:solidFill>
              </a:defRPr>
            </a:lvl1pPr>
          </a:lstStyle>
          <a:p>
            <a:pPr/>
            <a:r>
              <a:t>что выдает программа</a:t>
            </a:r>
          </a:p>
        </p:txBody>
      </p:sp>
      <p:pic>
        <p:nvPicPr>
          <p:cNvPr id="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74873" y="502919"/>
            <a:ext cx="4098176" cy="54406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Проблема и идея проекта</a:t>
            </a:r>
          </a:p>
        </p:txBody>
      </p:sp>
      <p:sp>
        <p:nvSpPr>
          <p:cNvPr id="44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Фото есть у каждого, но без численных признаков оценка осанки остается субъективной.</a:t>
            </a:r>
          </a:p>
        </p:txBody>
      </p:sp>
      <p:sp>
        <p:nvSpPr>
          <p:cNvPr id="45" name="Shape 2"/>
          <p:cNvSpPr/>
          <p:nvPr/>
        </p:nvSpPr>
        <p:spPr>
          <a:xfrm>
            <a:off x="658368" y="1508760"/>
            <a:ext cx="2331721" cy="2011680"/>
          </a:xfrm>
          <a:prstGeom prst="roundRect">
            <a:avLst>
              <a:gd name="adj" fmla="val 3636"/>
            </a:avLst>
          </a:prstGeom>
          <a:solidFill>
            <a:srgbClr val="E0F2FE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3"/>
          <p:cNvSpPr/>
          <p:nvPr/>
        </p:nvSpPr>
        <p:spPr>
          <a:xfrm>
            <a:off x="822960" y="1700783"/>
            <a:ext cx="457201" cy="29260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4"/>
          <p:cNvSpPr txBox="1"/>
          <p:nvPr/>
        </p:nvSpPr>
        <p:spPr>
          <a:xfrm>
            <a:off x="896111" y="1737360"/>
            <a:ext cx="31089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8" name="Text 5"/>
          <p:cNvSpPr txBox="1"/>
          <p:nvPr/>
        </p:nvSpPr>
        <p:spPr>
          <a:xfrm>
            <a:off x="822960" y="2148839"/>
            <a:ext cx="192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Фото</a:t>
            </a:r>
          </a:p>
        </p:txBody>
      </p:sp>
      <p:sp>
        <p:nvSpPr>
          <p:cNvPr id="49" name="Text 6"/>
          <p:cNvSpPr txBox="1"/>
          <p:nvPr/>
        </p:nvSpPr>
        <p:spPr>
          <a:xfrm>
            <a:off x="822960" y="2514600"/>
            <a:ext cx="192024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JPG/PNG-снимок человека сбоку или спереди.</a:t>
            </a:r>
          </a:p>
        </p:txBody>
      </p:sp>
      <p:sp>
        <p:nvSpPr>
          <p:cNvPr id="50" name="Shape 7"/>
          <p:cNvSpPr/>
          <p:nvPr/>
        </p:nvSpPr>
        <p:spPr>
          <a:xfrm>
            <a:off x="3447288" y="1508760"/>
            <a:ext cx="2331721" cy="201168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8"/>
          <p:cNvSpPr/>
          <p:nvPr/>
        </p:nvSpPr>
        <p:spPr>
          <a:xfrm>
            <a:off x="3611879" y="1700783"/>
            <a:ext cx="457201" cy="292609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9"/>
          <p:cNvSpPr txBox="1"/>
          <p:nvPr/>
        </p:nvSpPr>
        <p:spPr>
          <a:xfrm>
            <a:off x="3685032" y="1737360"/>
            <a:ext cx="31089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3" name="Text 10"/>
          <p:cNvSpPr txBox="1"/>
          <p:nvPr/>
        </p:nvSpPr>
        <p:spPr>
          <a:xfrm>
            <a:off x="3611879" y="2148839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Точки</a:t>
            </a:r>
          </a:p>
        </p:txBody>
      </p:sp>
      <p:sp>
        <p:nvSpPr>
          <p:cNvPr id="54" name="Text 11"/>
          <p:cNvSpPr txBox="1"/>
          <p:nvPr/>
        </p:nvSpPr>
        <p:spPr>
          <a:xfrm>
            <a:off x="3611879" y="2514600"/>
            <a:ext cx="192024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Модель находит нос, уши, плечи, таз, колени, лодыжки.</a:t>
            </a:r>
          </a:p>
        </p:txBody>
      </p:sp>
      <p:sp>
        <p:nvSpPr>
          <p:cNvPr id="55" name="Shape 12"/>
          <p:cNvSpPr/>
          <p:nvPr/>
        </p:nvSpPr>
        <p:spPr>
          <a:xfrm>
            <a:off x="6236208" y="1508760"/>
            <a:ext cx="2331721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13"/>
          <p:cNvSpPr/>
          <p:nvPr/>
        </p:nvSpPr>
        <p:spPr>
          <a:xfrm>
            <a:off x="6400800" y="1700783"/>
            <a:ext cx="457200" cy="292609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4"/>
          <p:cNvSpPr txBox="1"/>
          <p:nvPr/>
        </p:nvSpPr>
        <p:spPr>
          <a:xfrm>
            <a:off x="6473952" y="1737360"/>
            <a:ext cx="31089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" name="Text 15"/>
          <p:cNvSpPr txBox="1"/>
          <p:nvPr/>
        </p:nvSpPr>
        <p:spPr>
          <a:xfrm>
            <a:off x="6400800" y="2148839"/>
            <a:ext cx="192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Геометрия</a:t>
            </a:r>
          </a:p>
        </p:txBody>
      </p:sp>
      <p:sp>
        <p:nvSpPr>
          <p:cNvPr id="59" name="Text 16"/>
          <p:cNvSpPr txBox="1"/>
          <p:nvPr/>
        </p:nvSpPr>
        <p:spPr>
          <a:xfrm>
            <a:off x="6400800" y="2514600"/>
            <a:ext cx="192024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Код считает углы и процентные смещения.</a:t>
            </a:r>
          </a:p>
        </p:txBody>
      </p:sp>
      <p:sp>
        <p:nvSpPr>
          <p:cNvPr id="60" name="Shape 17"/>
          <p:cNvSpPr/>
          <p:nvPr/>
        </p:nvSpPr>
        <p:spPr>
          <a:xfrm>
            <a:off x="9025128" y="1508760"/>
            <a:ext cx="2331721" cy="2011680"/>
          </a:xfrm>
          <a:prstGeom prst="roundRect">
            <a:avLst>
              <a:gd name="adj" fmla="val 3636"/>
            </a:avLst>
          </a:prstGeom>
          <a:solidFill>
            <a:srgbClr val="F3E8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18"/>
          <p:cNvSpPr/>
          <p:nvPr/>
        </p:nvSpPr>
        <p:spPr>
          <a:xfrm>
            <a:off x="9189719" y="1700783"/>
            <a:ext cx="457201" cy="292609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9"/>
          <p:cNvSpPr txBox="1"/>
          <p:nvPr/>
        </p:nvSpPr>
        <p:spPr>
          <a:xfrm>
            <a:off x="9262871" y="1737360"/>
            <a:ext cx="31089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" name="Text 20"/>
          <p:cNvSpPr txBox="1"/>
          <p:nvPr/>
        </p:nvSpPr>
        <p:spPr>
          <a:xfrm>
            <a:off x="9189719" y="2148839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Отчет</a:t>
            </a:r>
          </a:p>
        </p:txBody>
      </p:sp>
      <p:sp>
        <p:nvSpPr>
          <p:cNvPr id="64" name="Text 21"/>
          <p:cNvSpPr txBox="1"/>
          <p:nvPr/>
        </p:nvSpPr>
        <p:spPr>
          <a:xfrm>
            <a:off x="9189719" y="2514600"/>
            <a:ext cx="192024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/>
            <a:r>
              <a:t>Сохраняются размеченное фото, TXT и JSON.</a:t>
            </a:r>
          </a:p>
        </p:txBody>
      </p:sp>
      <p:sp>
        <p:nvSpPr>
          <p:cNvPr id="65" name="Shape 22"/>
          <p:cNvSpPr/>
          <p:nvPr/>
        </p:nvSpPr>
        <p:spPr>
          <a:xfrm>
            <a:off x="685800" y="4069079"/>
            <a:ext cx="10744200" cy="100584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3"/>
          <p:cNvSpPr txBox="1"/>
          <p:nvPr/>
        </p:nvSpPr>
        <p:spPr>
          <a:xfrm>
            <a:off x="914400" y="4251959"/>
            <a:ext cx="27432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Главная мысль </a:t>
            </a:r>
          </a:p>
        </p:txBody>
      </p:sp>
      <p:sp>
        <p:nvSpPr>
          <p:cNvPr id="67" name="Text 24"/>
          <p:cNvSpPr txBox="1"/>
          <p:nvPr/>
        </p:nvSpPr>
        <p:spPr>
          <a:xfrm>
            <a:off x="3063239" y="4224528"/>
            <a:ext cx="7726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/>
            <a:r>
              <a:t>YOLO не анализирует осанку как врач и не считает показатели. Он только возвращает координаты ключевых точек. Все углы, смещения, шкала и рекомендации реализованы в posture_analyzer.py.</a:t>
            </a:r>
          </a:p>
        </p:txBody>
      </p:sp>
      <p:sp>
        <p:nvSpPr>
          <p:cNvPr id="68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 txBox="1"/>
          <p:nvPr/>
        </p:nvSpPr>
        <p:spPr>
          <a:xfrm>
            <a:off x="696035" y="751830"/>
            <a:ext cx="8046720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3136">
                <a:solidFill>
                  <a:srgbClr val="0F172A"/>
                </a:solidFill>
              </a:defRPr>
            </a:lvl1pPr>
          </a:lstStyle>
          <a:p>
            <a:pPr/>
            <a:r>
              <a:t>Кто что делал</a:t>
            </a:r>
          </a:p>
        </p:txBody>
      </p:sp>
      <p:graphicFrame>
        <p:nvGraphicFramePr>
          <p:cNvPr id="71" name="Table 0"/>
          <p:cNvGraphicFramePr/>
          <p:nvPr/>
        </p:nvGraphicFramePr>
        <p:xfrm>
          <a:off x="723900" y="1559051"/>
          <a:ext cx="10744200" cy="2971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4572000"/>
                <a:gridCol w="3886200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400">
                          <a:solidFill>
                            <a:srgbClr val="475569"/>
                          </a:solidFill>
                        </a:rPr>
                        <a:t>Участник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400">
                          <a:solidFill>
                            <a:srgbClr val="475569"/>
                          </a:solidFill>
                        </a:rPr>
                        <a:t>Зона ответственности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400">
                          <a:solidFill>
                            <a:srgbClr val="475569"/>
                          </a:solidFill>
                        </a:rPr>
                        <a:t>Материал для защиты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Анна Иванова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Идея проекта, запуск кода, проверка отчетов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posture_analyzer.py, results/*.txt/json/png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Демирджиева Тамила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Подбор и подготовка фотографий, требования к снимкам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bad21.JPG, good4.JPG, good5.JPG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Беспалько Илья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Сравнение YOLO/MediaPipe, проверка ключевых точек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слайды сравнения, вывод по backend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Шалаумов Андрей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Формулы показателей, метрики, экономическая выгода, защита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475569"/>
                          </a:solidFill>
                        </a:rPr>
                        <a:t>формулы, шкала штрафов, экономический расчет</a:t>
                      </a:r>
                    </a:p>
                  </a:txBody>
                  <a:tcPr marL="73152" marR="73152" marT="73152" marB="73152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Почему YOLO лучше для нашего проекта</a:t>
            </a:r>
          </a:p>
        </p:txBody>
      </p:sp>
      <p:sp>
        <p:nvSpPr>
          <p:cNvPr id="76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Выбор сделан по практическим критериям: запуск, воспроизводимость, отчеты, метрики и достаточность точек для формул.</a:t>
            </a:r>
          </a:p>
        </p:txBody>
      </p:sp>
      <p:graphicFrame>
        <p:nvGraphicFramePr>
          <p:cNvPr id="77" name="Table 0"/>
          <p:cNvGraphicFramePr/>
          <p:nvPr/>
        </p:nvGraphicFramePr>
        <p:xfrm>
          <a:off x="548640" y="1078991"/>
          <a:ext cx="10972801" cy="40690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00200"/>
                <a:gridCol w="3063240"/>
                <a:gridCol w="2880360"/>
                <a:gridCol w="3429000"/>
              </a:tblGrid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Критерий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YOLO Pose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MediaPipe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Почему YOLO лучше для проекта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DCFCE7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Надежность запуска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Запустился в проекте и обработал 3/3 тестовых фото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В нашем окружении пакет несовместим, расчет не подтвержден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YOLO дает подтвержденный и воспроизводимый результат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Достаточность точек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17 точек COCO: ухо/нос, плечи, таз, колени, лодыжки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33 точки, но часть лишняя для наших формул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Для 4 показателей осанки нужны именно голова, плечо и таз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Контроль качества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Для каждой точки есть confidence; слабые точки можно отфильтровать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Есть visibility/presence, но запуск не подтвержден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YOLO дает проверяемые координаты и уверенность по точкам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Обучаемость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Ultralytics поддерживает train/val/export, mAP, precision, recall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Сложнее показать как обучаемую модель в рамках проекта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YOLO удобнее для слайда про метрики обучения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Интеграция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Один .pt-файл и простой Python-вызов через ultralytics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Нужна корректная установка MediaPipe/task-модели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YOLO проще воспроизвести преподавателю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Итог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Лучше для текущего прототипа: работает, дает отчеты, точек достаточно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Полезен как будущая альтернатива с 33 точками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Выбор YOLO обоснован практикой, а не только теорией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Shape 2"/>
          <p:cNvSpPr/>
          <p:nvPr/>
        </p:nvSpPr>
        <p:spPr>
          <a:xfrm>
            <a:off x="777240" y="5413247"/>
            <a:ext cx="10652760" cy="457201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8890">
            <a:solidFill>
              <a:srgbClr val="86EF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"/>
          <p:cNvSpPr txBox="1"/>
          <p:nvPr/>
        </p:nvSpPr>
        <p:spPr>
          <a:xfrm>
            <a:off x="961803" y="5527547"/>
            <a:ext cx="1600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16A34A"/>
                </a:solidFill>
              </a:defRPr>
            </a:lvl1pPr>
          </a:lstStyle>
          <a:p>
            <a:pPr/>
            <a:r>
              <a:t>Главный вывод</a:t>
            </a:r>
          </a:p>
        </p:txBody>
      </p:sp>
      <p:sp>
        <p:nvSpPr>
          <p:cNvPr id="80" name="Text 4"/>
          <p:cNvSpPr txBox="1"/>
          <p:nvPr/>
        </p:nvSpPr>
        <p:spPr>
          <a:xfrm>
            <a:off x="2344594" y="5568695"/>
            <a:ext cx="873252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594359">
              <a:defRPr sz="780">
                <a:solidFill>
                  <a:srgbClr val="0F172A"/>
                </a:solidFill>
              </a:defRPr>
            </a:lvl1pPr>
          </a:lstStyle>
          <a:p>
            <a:pPr/>
            <a:r>
              <a:t>YOLO выбран как основной backend, потому что он уже работает в проекте: нашел ключевые точки, сформировал PNG/TXT/JSON и дает основу для дальнейшего обучения с метриками.</a:t>
            </a:r>
          </a:p>
        </p:txBody>
      </p:sp>
      <p:sp>
        <p:nvSpPr>
          <p:cNvPr id="81" name="Slide Number Placeholder 0"/>
          <p:cNvSpPr txBox="1"/>
          <p:nvPr/>
        </p:nvSpPr>
        <p:spPr>
          <a:xfrm>
            <a:off x="11384280" y="6547104"/>
            <a:ext cx="160646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Как определили ключевые точки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Ключевые точки не размечались вручную: их выдает нейросетевая модель.</a:t>
            </a:r>
          </a:p>
        </p:txBody>
      </p:sp>
      <p:sp>
        <p:nvSpPr>
          <p:cNvPr id="85" name="Shape 2"/>
          <p:cNvSpPr/>
          <p:nvPr/>
        </p:nvSpPr>
        <p:spPr>
          <a:xfrm>
            <a:off x="685800" y="1325880"/>
            <a:ext cx="3429000" cy="393192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3"/>
          <p:cNvSpPr txBox="1"/>
          <p:nvPr/>
        </p:nvSpPr>
        <p:spPr>
          <a:xfrm>
            <a:off x="914400" y="1600200"/>
            <a:ext cx="18288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1. Модель</a:t>
            </a:r>
          </a:p>
        </p:txBody>
      </p:sp>
      <p:sp>
        <p:nvSpPr>
          <p:cNvPr id="87" name="Text 4"/>
          <p:cNvSpPr txBox="1"/>
          <p:nvPr/>
        </p:nvSpPr>
        <p:spPr>
          <a:xfrm>
            <a:off x="914399" y="2011679"/>
            <a:ext cx="2926082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YOLO11n-pose получает изображение.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Находит человека и 17 COCO-точек.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Для каждой точки возвращает x, y и confidence.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914400" y="3703320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2. Выбор человека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914400" y="4069079"/>
            <a:ext cx="288036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95527">
              <a:defRPr sz="1044">
                <a:solidFill>
                  <a:srgbClr val="475569"/>
                </a:solidFill>
              </a:defRPr>
            </a:lvl1pPr>
          </a:lstStyle>
          <a:p>
            <a:pPr/>
            <a:r>
              <a:t>Если найдено несколько людей, код выбирает человека с самым большим bounding box.</a:t>
            </a:r>
          </a:p>
        </p:txBody>
      </p:sp>
      <p:sp>
        <p:nvSpPr>
          <p:cNvPr id="90" name="Shape 7"/>
          <p:cNvSpPr/>
          <p:nvPr/>
        </p:nvSpPr>
        <p:spPr>
          <a:xfrm>
            <a:off x="4480559" y="1325880"/>
            <a:ext cx="3429001" cy="393192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4709159" y="1600200"/>
            <a:ext cx="219456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3. Фильтр точек</a:t>
            </a:r>
          </a:p>
        </p:txBody>
      </p:sp>
      <p:sp>
        <p:nvSpPr>
          <p:cNvPr id="92" name="Text 9"/>
          <p:cNvSpPr txBox="1"/>
          <p:nvPr/>
        </p:nvSpPr>
        <p:spPr>
          <a:xfrm>
            <a:off x="4709159" y="2011679"/>
            <a:ext cx="288036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min_visibility = 0.25. Точки с меньшей уверенностью отбрасываются, чтобы не считать геометрию по шуму.</a:t>
            </a:r>
          </a:p>
        </p:txBody>
      </p:sp>
      <p:sp>
        <p:nvSpPr>
          <p:cNvPr id="93" name="Text 10"/>
          <p:cNvSpPr txBox="1"/>
          <p:nvPr/>
        </p:nvSpPr>
        <p:spPr>
          <a:xfrm>
            <a:off x="4709159" y="3063239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4. Вид фото</a:t>
            </a:r>
          </a:p>
        </p:txBody>
      </p:sp>
      <p:sp>
        <p:nvSpPr>
          <p:cNvPr id="94" name="Text 11"/>
          <p:cNvSpPr txBox="1"/>
          <p:nvPr/>
        </p:nvSpPr>
        <p:spPr>
          <a:xfrm>
            <a:off x="4709159" y="3456432"/>
            <a:ext cx="288036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7" tIns="507" rIns="507" bIns="507" anchor="ctr">
            <a:normAutofit fontScale="100000" lnSpcReduction="0"/>
          </a:bodyPr>
          <a:lstStyle/>
          <a:p>
            <a:pPr defTabSz="868680">
              <a:defRPr sz="114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shoulder_ratio = distance(shoulders) / torso_height</a:t>
            </a:r>
          </a:p>
          <a:p>
            <a:pPr defTabSz="868680">
              <a:defRPr sz="114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если &lt; 0.45 → фото сбоку</a:t>
            </a:r>
          </a:p>
          <a:p>
            <a:pPr defTabSz="868680">
              <a:defRPr sz="114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иначе → фото спереди</a:t>
            </a:r>
          </a:p>
        </p:txBody>
      </p:sp>
      <p:sp>
        <p:nvSpPr>
          <p:cNvPr id="95" name="Shape 12"/>
          <p:cNvSpPr/>
          <p:nvPr/>
        </p:nvSpPr>
        <p:spPr>
          <a:xfrm>
            <a:off x="8275319" y="1325880"/>
            <a:ext cx="2788921" cy="3931921"/>
          </a:xfrm>
          <a:prstGeom prst="roundRect">
            <a:avLst>
              <a:gd name="adj" fmla="val 2623"/>
            </a:avLst>
          </a:prstGeom>
          <a:solidFill>
            <a:srgbClr val="EFF6FF"/>
          </a:solidFill>
          <a:ln w="8890">
            <a:solidFill>
              <a:srgbClr val="BFDB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3"/>
          <p:cNvSpPr txBox="1"/>
          <p:nvPr/>
        </p:nvSpPr>
        <p:spPr>
          <a:xfrm>
            <a:off x="8503919" y="1600200"/>
            <a:ext cx="18288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563EB"/>
                </a:solidFill>
              </a:defRPr>
            </a:lvl1pPr>
          </a:lstStyle>
          <a:p>
            <a:pPr/>
            <a:r>
              <a:t>Точки YOLO</a:t>
            </a:r>
          </a:p>
        </p:txBody>
      </p:sp>
      <p:sp>
        <p:nvSpPr>
          <p:cNvPr id="97" name="Text 14"/>
          <p:cNvSpPr txBox="1"/>
          <p:nvPr/>
        </p:nvSpPr>
        <p:spPr>
          <a:xfrm>
            <a:off x="8503919" y="1993392"/>
            <a:ext cx="2331721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200">
                <a:solidFill>
                  <a:srgbClr val="0F172A"/>
                </a:solidFill>
              </a:defRPr>
            </a:lvl1pPr>
          </a:lstStyle>
          <a:p>
            <a:pPr/>
            <a:r>
              <a:t>NOSE, LEFT_EYE, RIGHT_EYE, LEFT_EAR, RIGHT_EAR, LEFT_SHOULDER, RIGHT_SHOULDER, LEFT_ELBOW, RIGHT_ELBOW, LEFT_WRIST, RIGHT_WRIST, LEFT_HIP, RIGHT_HIP, LEFT_KNEE, RIGHT_KNEE, LEFT_ANKLE, RIGHT_ANKLE</a:t>
            </a:r>
          </a:p>
        </p:txBody>
      </p:sp>
      <p:sp>
        <p:nvSpPr>
          <p:cNvPr id="98" name="Shape 15"/>
          <p:cNvSpPr/>
          <p:nvPr/>
        </p:nvSpPr>
        <p:spPr>
          <a:xfrm>
            <a:off x="8549640" y="4617720"/>
            <a:ext cx="1920241" cy="256033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8622792" y="4654296"/>
            <a:ext cx="1773936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13231">
              <a:defRPr b="1" sz="935">
                <a:solidFill>
                  <a:srgbClr val="FFFFFF"/>
                </a:solidFill>
              </a:defRPr>
            </a:lvl1pPr>
          </a:lstStyle>
          <a:p>
            <a:pPr/>
            <a:r>
              <a:t>Источник: posture_analyzer.py</a:t>
            </a:r>
          </a:p>
        </p:txBody>
      </p:sp>
      <p:sp>
        <p:nvSpPr>
          <p:cNvPr id="100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Геометрия: что делает наш код</a:t>
            </a:r>
          </a:p>
        </p:txBody>
      </p:sp>
      <p:sp>
        <p:nvSpPr>
          <p:cNvPr id="103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YOLO дает координаты, но не вычисляет осанку. Показатели рассчитываются отдельно.</a:t>
            </a:r>
          </a:p>
        </p:txBody>
      </p:sp>
      <p:sp>
        <p:nvSpPr>
          <p:cNvPr id="104" name="Shape 2"/>
          <p:cNvSpPr/>
          <p:nvPr/>
        </p:nvSpPr>
        <p:spPr>
          <a:xfrm>
            <a:off x="594359" y="1234439"/>
            <a:ext cx="3657601" cy="2331722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3"/>
          <p:cNvSpPr txBox="1"/>
          <p:nvPr/>
        </p:nvSpPr>
        <p:spPr>
          <a:xfrm>
            <a:off x="731520" y="1344167"/>
            <a:ext cx="33832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Базовые функции</a:t>
            </a:r>
          </a:p>
        </p:txBody>
      </p:sp>
      <p:sp>
        <p:nvSpPr>
          <p:cNvPr id="106" name="Text 4"/>
          <p:cNvSpPr txBox="1"/>
          <p:nvPr/>
        </p:nvSpPr>
        <p:spPr>
          <a:xfrm>
            <a:off x="740664" y="1627632"/>
            <a:ext cx="3364992" cy="139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distance(A,B) = sqrt((xA-xB)^2 + (yA-yB)^2)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angle_h(A,B) = |atan2(yB-yA, xB-xA)|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angle_v(A,B) = |90° - angle_h(A,B)|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percent(part, whole) = part / whole × 100%</a:t>
            </a:r>
          </a:p>
        </p:txBody>
      </p:sp>
      <p:sp>
        <p:nvSpPr>
          <p:cNvPr id="107" name="Shape 5"/>
          <p:cNvSpPr/>
          <p:nvPr/>
        </p:nvSpPr>
        <p:spPr>
          <a:xfrm>
            <a:off x="4480559" y="1234439"/>
            <a:ext cx="3611881" cy="2331722"/>
          </a:xfrm>
          <a:prstGeom prst="roundRect">
            <a:avLst>
              <a:gd name="adj" fmla="val 3137"/>
            </a:avLst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6"/>
          <p:cNvSpPr txBox="1"/>
          <p:nvPr/>
        </p:nvSpPr>
        <p:spPr>
          <a:xfrm>
            <a:off x="4617720" y="1344167"/>
            <a:ext cx="3337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Фото сбоку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4626864" y="1627632"/>
            <a:ext cx="3319272" cy="1856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torso_len = distance(shoulder, hip)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head_forward = |x_head - x_shoulder| / torso_len × 100%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neck_lean = angle_v(shoulder, head)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torso_lean = angle_v(hip, shoulder)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shoulder_offset = |x_shoulder - x_hip| / torso_len × 100%</a:t>
            </a:r>
          </a:p>
        </p:txBody>
      </p:sp>
      <p:sp>
        <p:nvSpPr>
          <p:cNvPr id="110" name="Shape 8"/>
          <p:cNvSpPr/>
          <p:nvPr/>
        </p:nvSpPr>
        <p:spPr>
          <a:xfrm>
            <a:off x="8321040" y="1234439"/>
            <a:ext cx="3246121" cy="2331722"/>
          </a:xfrm>
          <a:prstGeom prst="roundRect">
            <a:avLst>
              <a:gd name="adj" fmla="val 3137"/>
            </a:avLst>
          </a:prstGeom>
          <a:solidFill>
            <a:srgbClr val="FEFCE8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9"/>
          <p:cNvSpPr txBox="1"/>
          <p:nvPr/>
        </p:nvSpPr>
        <p:spPr>
          <a:xfrm>
            <a:off x="8458200" y="1344167"/>
            <a:ext cx="29718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Фото спереди</a:t>
            </a:r>
          </a:p>
        </p:txBody>
      </p:sp>
      <p:sp>
        <p:nvSpPr>
          <p:cNvPr id="112" name="Text 10"/>
          <p:cNvSpPr txBox="1"/>
          <p:nvPr/>
        </p:nvSpPr>
        <p:spPr>
          <a:xfrm>
            <a:off x="8467343" y="1627632"/>
            <a:ext cx="2953513" cy="1856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shoulder_tilt = angle_h(left_shoulder, right_shoulder)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hip_tilt = angle_h(left_hip, right_hip)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head_offset = |x_head - x_shoulder_mid| / shoulder_width × 100%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torso_lean = angle_v(hip_mid, shoulder_mid)</a:t>
            </a:r>
          </a:p>
        </p:txBody>
      </p:sp>
      <p:sp>
        <p:nvSpPr>
          <p:cNvPr id="113" name="Shape 11"/>
          <p:cNvSpPr/>
          <p:nvPr/>
        </p:nvSpPr>
        <p:spPr>
          <a:xfrm>
            <a:off x="868680" y="4251959"/>
            <a:ext cx="10469881" cy="749809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12"/>
          <p:cNvSpPr txBox="1"/>
          <p:nvPr/>
        </p:nvSpPr>
        <p:spPr>
          <a:xfrm>
            <a:off x="1097280" y="4480559"/>
            <a:ext cx="16459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Итоговая оценка</a:t>
            </a:r>
          </a:p>
        </p:txBody>
      </p:sp>
      <p:sp>
        <p:nvSpPr>
          <p:cNvPr id="115" name="Text 13"/>
          <p:cNvSpPr txBox="1"/>
          <p:nvPr/>
        </p:nvSpPr>
        <p:spPr>
          <a:xfrm>
            <a:off x="2602414" y="4505959"/>
            <a:ext cx="31513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score = max(0, 100 − Σ penalty_i)</a:t>
            </a:r>
          </a:p>
        </p:txBody>
      </p:sp>
      <p:sp>
        <p:nvSpPr>
          <p:cNvPr id="116" name="Text 14"/>
          <p:cNvSpPr txBox="1"/>
          <p:nvPr/>
        </p:nvSpPr>
        <p:spPr>
          <a:xfrm>
            <a:off x="5894536" y="4485132"/>
            <a:ext cx="525780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200">
                <a:solidFill>
                  <a:srgbClr val="0F172A"/>
                </a:solidFill>
              </a:defRPr>
            </a:lvl1pPr>
          </a:lstStyle>
          <a:p>
            <a:pPr/>
            <a:r>
              <a:t>penalty: норма = 0, есть отклонение = 8, выраженное отклонение = 18</a:t>
            </a:r>
          </a:p>
        </p:txBody>
      </p:sp>
      <p:sp>
        <p:nvSpPr>
          <p:cNvPr id="117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Расчет показателей по шагам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На примере бокового фото: сначала нормируем смещения на длину корпуса, затем переводим значения в штрафы.</a:t>
            </a:r>
          </a:p>
        </p:txBody>
      </p:sp>
      <p:sp>
        <p:nvSpPr>
          <p:cNvPr id="121" name="Shape 2"/>
          <p:cNvSpPr/>
          <p:nvPr/>
        </p:nvSpPr>
        <p:spPr>
          <a:xfrm>
            <a:off x="594359" y="1170432"/>
            <a:ext cx="11018521" cy="621793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8890">
            <a:solidFill>
              <a:srgbClr val="BFDB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"/>
          <p:cNvSpPr txBox="1"/>
          <p:nvPr/>
        </p:nvSpPr>
        <p:spPr>
          <a:xfrm>
            <a:off x="868679" y="1389888"/>
            <a:ext cx="1046988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859536">
              <a:defRPr b="1" sz="1128">
                <a:solidFill>
                  <a:srgbClr val="0F172A"/>
                </a:solidFill>
              </a:defRPr>
            </a:lvl1pPr>
          </a:lstStyle>
          <a:p>
            <a:pPr/>
            <a:r>
              <a:t>1) YOLO находит точки  →  2) код выбирает вид фото  →  3) считает углы/смещения  →  4) сравнивает с порогами  →  5) вычитает штрафы из 100</a:t>
            </a:r>
          </a:p>
        </p:txBody>
      </p:sp>
      <p:graphicFrame>
        <p:nvGraphicFramePr>
          <p:cNvPr id="123" name="Table 0"/>
          <p:cNvGraphicFramePr/>
          <p:nvPr/>
        </p:nvGraphicFramePr>
        <p:xfrm>
          <a:off x="594359" y="2011679"/>
          <a:ext cx="10396730" cy="21488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14600"/>
                <a:gridCol w="2331720"/>
                <a:gridCol w="4892040"/>
                <a:gridCol w="658368"/>
              </a:tblGrid>
              <a:tr h="4297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Показатель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Какие точки берутся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Формула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Ед.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Выдвижение головы вперед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голова, плечо, таз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|x_головы - x_плеча| / distance(плечо, таз) × 100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%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Наклон шеи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плечо → голова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|90° - angle_h(плечо, голова)|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град.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Наклон корпуса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таз → плечо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|90° - angle_h(таз, плечо)|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град.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Смещение плеча относительно таза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плечо, таз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|x_плеча - x_таза| / distance(плечо, таз) × 100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%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4" name="Shape 4"/>
          <p:cNvSpPr/>
          <p:nvPr/>
        </p:nvSpPr>
        <p:spPr>
          <a:xfrm>
            <a:off x="731519" y="4617720"/>
            <a:ext cx="5074922" cy="749809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5"/>
          <p:cNvSpPr txBox="1"/>
          <p:nvPr/>
        </p:nvSpPr>
        <p:spPr>
          <a:xfrm>
            <a:off x="810432" y="4878323"/>
            <a:ext cx="2468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563EB"/>
                </a:solidFill>
              </a:defRPr>
            </a:lvl1pPr>
          </a:lstStyle>
          <a:p>
            <a:pPr/>
            <a:r>
              <a:t>Что такое distance и angle_h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2788920" y="4782311"/>
            <a:ext cx="2743201" cy="420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13231">
              <a:defRPr sz="935">
                <a:solidFill>
                  <a:srgbClr val="0F172A"/>
                </a:solidFill>
              </a:defRPr>
            </a:lvl1pPr>
          </a:lstStyle>
          <a:p>
            <a:pPr/>
            <a:r>
              <a:t>distance(A,B) - расстояние между двумя точками; angle_h(A,B) - угол линии AB к горизонтали. Все x/y берутся из координат ключевых точек.</a:t>
            </a:r>
          </a:p>
        </p:txBody>
      </p:sp>
      <p:sp>
        <p:nvSpPr>
          <p:cNvPr id="127" name="Shape 7"/>
          <p:cNvSpPr/>
          <p:nvPr/>
        </p:nvSpPr>
        <p:spPr>
          <a:xfrm>
            <a:off x="6172200" y="4617720"/>
            <a:ext cx="4937760" cy="749809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8890">
            <a:solidFill>
              <a:srgbClr val="86EF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8"/>
          <p:cNvSpPr txBox="1"/>
          <p:nvPr/>
        </p:nvSpPr>
        <p:spPr>
          <a:xfrm>
            <a:off x="6307426" y="4878323"/>
            <a:ext cx="14630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16A34A"/>
                </a:solidFill>
              </a:defRPr>
            </a:lvl1pPr>
          </a:lstStyle>
          <a:p>
            <a:pPr/>
            <a:r>
              <a:t>Пример good5</a:t>
            </a:r>
          </a:p>
        </p:txBody>
      </p:sp>
      <p:sp>
        <p:nvSpPr>
          <p:cNvPr id="129" name="Text 9"/>
          <p:cNvSpPr txBox="1"/>
          <p:nvPr/>
        </p:nvSpPr>
        <p:spPr>
          <a:xfrm>
            <a:off x="7627546" y="4837176"/>
            <a:ext cx="329184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04672">
              <a:defRPr sz="1056">
                <a:solidFill>
                  <a:srgbClr val="0F172A"/>
                </a:solidFill>
              </a:defRPr>
            </a:lvl1pPr>
          </a:lstStyle>
          <a:p>
            <a:pPr/>
            <a:r>
              <a:t>8.23% → штраф 8; 15.43° → штраф 8; 1.51° и 2.63% → штраф 0. Итого: score = 100 - (8 + 8 + 0 + 0) = 84.</a:t>
            </a:r>
          </a:p>
        </p:txBody>
      </p:sp>
      <p:sp>
        <p:nvSpPr>
          <p:cNvPr id="130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Почему выбраны такие формулы</a:t>
            </a:r>
          </a:p>
        </p:txBody>
      </p:sp>
      <p:sp>
        <p:nvSpPr>
          <p:cNvPr id="133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Формулы взяты не как медицинский диагноз, а как адаптация фотограмметрического подхода к точкам YOLO.</a:t>
            </a:r>
          </a:p>
        </p:txBody>
      </p:sp>
      <p:sp>
        <p:nvSpPr>
          <p:cNvPr id="134" name="Shape 2"/>
          <p:cNvSpPr/>
          <p:nvPr/>
        </p:nvSpPr>
        <p:spPr>
          <a:xfrm>
            <a:off x="594359" y="1188719"/>
            <a:ext cx="2743201" cy="4187954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8890">
            <a:solidFill>
              <a:srgbClr val="BFDB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3"/>
          <p:cNvSpPr txBox="1"/>
          <p:nvPr/>
        </p:nvSpPr>
        <p:spPr>
          <a:xfrm>
            <a:off x="822960" y="1463039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563EB"/>
                </a:solidFill>
              </a:defRPr>
            </a:lvl1pPr>
          </a:lstStyle>
          <a:p>
            <a:pPr/>
            <a:r>
              <a:t>1. Методическая база</a:t>
            </a:r>
          </a:p>
        </p:txBody>
      </p:sp>
      <p:sp>
        <p:nvSpPr>
          <p:cNvPr id="136" name="Text 4"/>
          <p:cNvSpPr txBox="1"/>
          <p:nvPr/>
        </p:nvSpPr>
        <p:spPr>
          <a:xfrm>
            <a:off x="822960" y="1874520"/>
            <a:ext cx="2240280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Фотограмметрия осанки измеряет углы и расстояния между анатомическими ориентирами на фото.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Для положения головы часто используют craniovertebral angle: ориентиры около уха/tragus и C7.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Для симметрии используют углы линий плеч/таза относительно горизонтали.</a:t>
            </a:r>
          </a:p>
        </p:txBody>
      </p:sp>
      <p:sp>
        <p:nvSpPr>
          <p:cNvPr id="137" name="Text 5"/>
          <p:cNvSpPr txBox="1"/>
          <p:nvPr/>
        </p:nvSpPr>
        <p:spPr>
          <a:xfrm>
            <a:off x="822960" y="4160520"/>
            <a:ext cx="214884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77823">
              <a:defRPr sz="1152">
                <a:solidFill>
                  <a:srgbClr val="0F172A"/>
                </a:solidFill>
              </a:defRPr>
            </a:lvl1pPr>
          </a:lstStyle>
          <a:p>
            <a:pPr/>
            <a:r>
              <a:t>Мы адаптировали этот принцип под доступные точки YOLO: ухо/нос, плечо, таз.</a:t>
            </a:r>
          </a:p>
        </p:txBody>
      </p:sp>
      <p:sp>
        <p:nvSpPr>
          <p:cNvPr id="138" name="Shape 6"/>
          <p:cNvSpPr/>
          <p:nvPr/>
        </p:nvSpPr>
        <p:spPr>
          <a:xfrm>
            <a:off x="3611879" y="1188719"/>
            <a:ext cx="3886201" cy="4187954"/>
          </a:xfrm>
          <a:prstGeom prst="roundRect">
            <a:avLst>
              <a:gd name="adj" fmla="val 1882"/>
            </a:avLst>
          </a:prstGeom>
          <a:solidFill>
            <a:srgbClr val="F0FDF4"/>
          </a:solidFill>
          <a:ln w="8890">
            <a:solidFill>
              <a:srgbClr val="86EF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7"/>
          <p:cNvSpPr txBox="1"/>
          <p:nvPr/>
        </p:nvSpPr>
        <p:spPr>
          <a:xfrm>
            <a:off x="3840479" y="1463039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766E"/>
                </a:solidFill>
              </a:defRPr>
            </a:lvl1pPr>
          </a:lstStyle>
          <a:p>
            <a:pPr/>
            <a:r>
              <a:t>2. Почему проценты</a:t>
            </a:r>
          </a:p>
        </p:txBody>
      </p:sp>
      <p:sp>
        <p:nvSpPr>
          <p:cNvPr id="140" name="Text 8"/>
          <p:cNvSpPr txBox="1"/>
          <p:nvPr/>
        </p:nvSpPr>
        <p:spPr>
          <a:xfrm>
            <a:off x="3840479" y="1874520"/>
            <a:ext cx="32918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68095">
              <a:defRPr sz="1008">
                <a:solidFill>
                  <a:srgbClr val="0F172A"/>
                </a:solidFill>
              </a:defRPr>
            </a:lvl1pPr>
          </a:lstStyle>
          <a:p>
            <a:pPr/>
            <a:r>
              <a:t>Смещения в пикселях зависят от размера фото и расстояния до камеры. Поэтому горизонтальные смещения делятся на длину корпуса или ширину плеч:</a:t>
            </a:r>
          </a:p>
        </p:txBody>
      </p:sp>
      <p:grpSp>
        <p:nvGrpSpPr>
          <p:cNvPr id="143" name="Text 9"/>
          <p:cNvGrpSpPr/>
          <p:nvPr/>
        </p:nvGrpSpPr>
        <p:grpSpPr>
          <a:xfrm>
            <a:off x="3840479" y="2606039"/>
            <a:ext cx="3246121" cy="530353"/>
            <a:chOff x="0" y="0"/>
            <a:chExt cx="3246120" cy="530351"/>
          </a:xfrm>
        </p:grpSpPr>
        <p:sp>
          <p:nvSpPr>
            <p:cNvPr id="141" name="Rectangle"/>
            <p:cNvSpPr/>
            <p:nvPr/>
          </p:nvSpPr>
          <p:spPr>
            <a:xfrm>
              <a:off x="-1" y="0"/>
              <a:ext cx="3246122" cy="530352"/>
            </a:xfrm>
            <a:prstGeom prst="rect">
              <a:avLst/>
            </a:prstGeom>
            <a:solidFill>
              <a:srgbClr val="11182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/>
              </a:pPr>
            </a:p>
          </p:txBody>
        </p:sp>
        <p:sp>
          <p:nvSpPr>
            <p:cNvPr id="142" name="head_forward = |x_head - x_shoulder| / torso_len × 100…"/>
            <p:cNvSpPr txBox="1"/>
            <p:nvPr/>
          </p:nvSpPr>
          <p:spPr>
            <a:xfrm>
              <a:off x="-1" y="0"/>
              <a:ext cx="3246122" cy="5303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normAutofit fontScale="100000" lnSpcReduction="0"/>
            </a:bodyPr>
            <a:lstStyle/>
            <a:p>
              <a:pPr>
                <a:defRPr sz="7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head_forward = |x_head - x_shoulder| / torso_len × 100</a:t>
              </a:r>
            </a:p>
            <a:p>
              <a:pPr>
                <a:defRPr sz="7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head_offset = |x_head - x_mid| / shoulder_width × 100</a:t>
              </a:r>
            </a:p>
          </p:txBody>
        </p:sp>
      </p:grpSp>
      <p:sp>
        <p:nvSpPr>
          <p:cNvPr id="144" name="Text 10"/>
          <p:cNvSpPr txBox="1"/>
          <p:nvPr/>
        </p:nvSpPr>
        <p:spPr>
          <a:xfrm>
            <a:off x="3840479" y="3364991"/>
            <a:ext cx="306324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77823">
              <a:defRPr sz="1152">
                <a:solidFill>
                  <a:srgbClr val="0F172A"/>
                </a:solidFill>
              </a:defRPr>
            </a:lvl1pPr>
          </a:lstStyle>
          <a:p>
            <a:pPr/>
            <a:r>
              <a:t>Так результаты разных фотографий становятся сопоставимыми.</a:t>
            </a:r>
          </a:p>
        </p:txBody>
      </p:sp>
      <p:sp>
        <p:nvSpPr>
          <p:cNvPr id="145" name="Text 11"/>
          <p:cNvSpPr txBox="1"/>
          <p:nvPr/>
        </p:nvSpPr>
        <p:spPr>
          <a:xfrm>
            <a:off x="3840479" y="4069079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766E"/>
                </a:solidFill>
              </a:defRPr>
            </a:lvl1pPr>
          </a:lstStyle>
          <a:p>
            <a:pPr/>
            <a:r>
              <a:t>3. Почему углы</a:t>
            </a:r>
          </a:p>
        </p:txBody>
      </p:sp>
      <p:sp>
        <p:nvSpPr>
          <p:cNvPr id="146" name="Text 12"/>
          <p:cNvSpPr txBox="1"/>
          <p:nvPr/>
        </p:nvSpPr>
        <p:spPr>
          <a:xfrm>
            <a:off x="3840479" y="4434840"/>
            <a:ext cx="3154682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13231">
              <a:defRPr sz="935">
                <a:solidFill>
                  <a:srgbClr val="0F172A"/>
                </a:solidFill>
              </a:defRPr>
            </a:lvl1pPr>
          </a:lstStyle>
          <a:p>
            <a:pPr/>
            <a:r>
              <a:t>Наклон шеи, корпуса, плеч и таза выражается как угол линии между двумя точками относительно вертикали или горизонтали.</a:t>
            </a:r>
          </a:p>
        </p:txBody>
      </p:sp>
      <p:sp>
        <p:nvSpPr>
          <p:cNvPr id="147" name="Shape 13"/>
          <p:cNvSpPr/>
          <p:nvPr/>
        </p:nvSpPr>
        <p:spPr>
          <a:xfrm>
            <a:off x="7818119" y="1188719"/>
            <a:ext cx="3566161" cy="4187954"/>
          </a:xfrm>
          <a:prstGeom prst="roundRect">
            <a:avLst>
              <a:gd name="adj" fmla="val 2051"/>
            </a:avLst>
          </a:prstGeom>
          <a:solidFill>
            <a:srgbClr val="FEFCE8"/>
          </a:solidFill>
          <a:ln w="889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4"/>
          <p:cNvSpPr txBox="1"/>
          <p:nvPr/>
        </p:nvSpPr>
        <p:spPr>
          <a:xfrm>
            <a:off x="8046719" y="1463039"/>
            <a:ext cx="2560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F59E0B"/>
                </a:solidFill>
              </a:defRPr>
            </a:lvl1pPr>
          </a:lstStyle>
          <a:p>
            <a:pPr/>
            <a:r>
              <a:t>Источники для методики</a:t>
            </a:r>
          </a:p>
        </p:txBody>
      </p:sp>
      <p:sp>
        <p:nvSpPr>
          <p:cNvPr id="149" name="Text 15"/>
          <p:cNvSpPr txBox="1"/>
          <p:nvPr/>
        </p:nvSpPr>
        <p:spPr>
          <a:xfrm>
            <a:off x="8046719" y="1874520"/>
            <a:ext cx="2971801" cy="2423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/>
          <a:p>
            <a:pPr defTabSz="832104">
              <a:defRPr sz="1092">
                <a:solidFill>
                  <a:srgbClr val="0F172A"/>
                </a:solidFill>
              </a:defRPr>
            </a:pPr>
            <a:r>
              <a:t>1) Ultralytics Pose: модель возвращает keypoints, координаты и confidence; 17 точек COCO.</a:t>
            </a:r>
          </a:p>
          <a:p>
            <a:pPr defTabSz="832104">
              <a:defRPr sz="1092">
                <a:solidFill>
                  <a:srgbClr val="0F172A"/>
                </a:solidFill>
              </a:defRPr>
            </a:pPr>
            <a:r>
              <a:t>2) MediaPipe Pose Landmarker: 33 landmarks в координатах изображения и world coordinates.</a:t>
            </a:r>
          </a:p>
          <a:p>
            <a:pPr defTabSz="832104">
              <a:defRPr sz="1092">
                <a:solidFill>
                  <a:srgbClr val="0F172A"/>
                </a:solidFill>
              </a:defRPr>
            </a:pPr>
            <a:r>
              <a:t>3) Систематический обзор Mylonas et al., 2022: для forward head posture надежнее всего поддержана классическая фотограмметрия.</a:t>
            </a:r>
          </a:p>
          <a:p>
            <a:pPr defTabSz="832104">
              <a:defRPr sz="1092">
                <a:solidFill>
                  <a:srgbClr val="0F172A"/>
                </a:solidFill>
              </a:defRPr>
            </a:pPr>
            <a:r>
              <a:t>4) Исследования CVA: положение головы оценивают по фото через углы между ориентирами уха/tragus и C7.</a:t>
            </a:r>
          </a:p>
          <a:p>
            <a:pPr defTabSz="832104">
              <a:defRPr sz="1092">
                <a:solidFill>
                  <a:srgbClr val="0F172A"/>
                </a:solidFill>
              </a:defRPr>
            </a:pPr>
            <a:r>
              <a:t>5) Пороговые штрафы 0/8/18 - учебная шкала проекта, ее нужно валидировать врачами.</a:t>
            </a:r>
          </a:p>
        </p:txBody>
      </p:sp>
      <p:sp>
        <p:nvSpPr>
          <p:cNvPr id="150" name="Shape 16"/>
          <p:cNvSpPr/>
          <p:nvPr/>
        </p:nvSpPr>
        <p:spPr>
          <a:xfrm>
            <a:off x="8275319" y="4800600"/>
            <a:ext cx="2514601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7"/>
          <p:cNvSpPr txBox="1"/>
          <p:nvPr/>
        </p:nvSpPr>
        <p:spPr>
          <a:xfrm>
            <a:off x="8348471" y="4837176"/>
            <a:ext cx="236829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Ссылки указаны на слайде источников</a:t>
            </a:r>
          </a:p>
        </p:txBody>
      </p:sp>
      <p:sp>
        <p:nvSpPr>
          <p:cNvPr id="152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Пороговые значения и коэффициенты</a:t>
            </a:r>
          </a:p>
        </p:txBody>
      </p:sp>
      <p:sp>
        <p:nvSpPr>
          <p:cNvPr id="155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Это учебная экспертная шкала. Для медицинского применения пороги должны уточняться врачами.</a:t>
            </a:r>
          </a:p>
        </p:txBody>
      </p:sp>
      <p:graphicFrame>
        <p:nvGraphicFramePr>
          <p:cNvPr id="156" name="Table 0"/>
          <p:cNvGraphicFramePr/>
          <p:nvPr/>
        </p:nvGraphicFramePr>
        <p:xfrm>
          <a:off x="594359" y="1280160"/>
          <a:ext cx="9738361" cy="33375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337559"/>
                <a:gridCol w="1508760"/>
                <a:gridCol w="1691640"/>
                <a:gridCol w="1737360"/>
                <a:gridCol w="1463040"/>
              </a:tblGrid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75569"/>
                          </a:solidFill>
                        </a:rPr>
                        <a:t>Показатель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75569"/>
                          </a:solidFill>
                        </a:rPr>
                        <a:t>Норма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75569"/>
                          </a:solidFill>
                        </a:rPr>
                        <a:t>Отклонение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75569"/>
                          </a:solidFill>
                        </a:rPr>
                        <a:t>Выраженное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75569"/>
                          </a:solidFill>
                        </a:rPr>
                        <a:t>Коэф. штрафа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Выдвижение головы вперед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≤ 8%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8–18%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&gt; 18%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0 / 8 / 18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Наклон шеи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≤ 10°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10–20°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&gt; 20°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0 / 8 / 18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Наклон корпуса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≤ 5°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5–10°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&gt; 10°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0 / 8 / 18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Смещение плеча относительно таза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≤ 10%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10–20%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&gt; 20%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0 / 8 / 18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Наклон плеч / таза спереди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≤ 3–4°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до 7–8°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выше порога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0 / 8 / 18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7" name="Shape 2"/>
          <p:cNvSpPr/>
          <p:nvPr/>
        </p:nvSpPr>
        <p:spPr>
          <a:xfrm>
            <a:off x="914400" y="5074920"/>
            <a:ext cx="10241281" cy="548641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8890">
            <a:solidFill>
              <a:srgbClr val="FDBA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3"/>
          <p:cNvSpPr txBox="1"/>
          <p:nvPr/>
        </p:nvSpPr>
        <p:spPr>
          <a:xfrm>
            <a:off x="1142999" y="5266944"/>
            <a:ext cx="978408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13816">
              <a:defRPr sz="1068">
                <a:solidFill>
                  <a:srgbClr val="0F172A"/>
                </a:solidFill>
              </a:defRPr>
            </a:lvl1pPr>
          </a:lstStyle>
          <a:p>
            <a:pPr/>
            <a:r>
              <a:t>Коэффициенты 0 / 8 / 18 являются экспертной учебной шкалой проекта: их нужно уточнять с врачом или реабилитологом перед реальным применением.</a:t>
            </a:r>
          </a:p>
        </p:txBody>
      </p:sp>
      <p:sp>
        <p:nvSpPr>
          <p:cNvPr id="159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160646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/>
        </p:nvSpPr>
        <p:spPr>
          <a:xfrm>
            <a:off x="681247" y="365759"/>
            <a:ext cx="8046720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Форматы фото и требования к снимку</a:t>
            </a:r>
          </a:p>
        </p:txBody>
      </p:sp>
      <p:sp>
        <p:nvSpPr>
          <p:cNvPr id="162" name="Shape 2"/>
          <p:cNvSpPr/>
          <p:nvPr/>
        </p:nvSpPr>
        <p:spPr>
          <a:xfrm>
            <a:off x="685800" y="1325880"/>
            <a:ext cx="3246121" cy="713233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63" name="Text 3"/>
          <p:cNvSpPr txBox="1"/>
          <p:nvPr/>
        </p:nvSpPr>
        <p:spPr>
          <a:xfrm>
            <a:off x="756535" y="1568196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563EB"/>
                </a:solidFill>
              </a:defRPr>
            </a:lvl1pPr>
          </a:lstStyle>
          <a:p>
            <a:pPr/>
            <a:r>
              <a:t>JPG/JPEG</a:t>
            </a:r>
          </a:p>
        </p:txBody>
      </p:sp>
      <p:sp>
        <p:nvSpPr>
          <p:cNvPr id="164" name="Text 4"/>
          <p:cNvSpPr txBox="1"/>
          <p:nvPr/>
        </p:nvSpPr>
        <p:spPr>
          <a:xfrm>
            <a:off x="1828800" y="1540763"/>
            <a:ext cx="1874521" cy="292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676655">
              <a:defRPr sz="1036">
                <a:solidFill>
                  <a:srgbClr val="475569"/>
                </a:solidFill>
              </a:defRPr>
            </a:lvl1pPr>
          </a:lstStyle>
          <a:p>
            <a:pPr/>
            <a:r>
              <a:t>основной формат: фото с телефона после экспорта</a:t>
            </a:r>
          </a:p>
        </p:txBody>
      </p:sp>
      <p:sp>
        <p:nvSpPr>
          <p:cNvPr id="165" name="Shape 5"/>
          <p:cNvSpPr/>
          <p:nvPr/>
        </p:nvSpPr>
        <p:spPr>
          <a:xfrm>
            <a:off x="4343400" y="1325880"/>
            <a:ext cx="3246121" cy="713233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66" name="Text 6"/>
          <p:cNvSpPr txBox="1"/>
          <p:nvPr/>
        </p:nvSpPr>
        <p:spPr>
          <a:xfrm>
            <a:off x="4423520" y="1572767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563EB"/>
                </a:solidFill>
              </a:defRPr>
            </a:lvl1pPr>
          </a:lstStyle>
          <a:p>
            <a:pPr/>
            <a:r>
              <a:t>PNG</a:t>
            </a:r>
          </a:p>
        </p:txBody>
      </p:sp>
      <p:sp>
        <p:nvSpPr>
          <p:cNvPr id="167" name="Text 7"/>
          <p:cNvSpPr txBox="1"/>
          <p:nvPr/>
        </p:nvSpPr>
        <p:spPr>
          <a:xfrm>
            <a:off x="5486400" y="1508759"/>
            <a:ext cx="187452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630936">
              <a:defRPr sz="966">
                <a:solidFill>
                  <a:srgbClr val="475569"/>
                </a:solidFill>
              </a:defRPr>
            </a:lvl1pPr>
          </a:lstStyle>
          <a:p>
            <a:pPr/>
            <a:r>
              <a:t>подходит для тестов и скриншотов без потери качества</a:t>
            </a:r>
          </a:p>
        </p:txBody>
      </p:sp>
      <p:sp>
        <p:nvSpPr>
          <p:cNvPr id="168" name="Shape 8"/>
          <p:cNvSpPr/>
          <p:nvPr/>
        </p:nvSpPr>
        <p:spPr>
          <a:xfrm>
            <a:off x="685800" y="2286000"/>
            <a:ext cx="3246121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69" name="Text 9"/>
          <p:cNvSpPr txBox="1"/>
          <p:nvPr/>
        </p:nvSpPr>
        <p:spPr>
          <a:xfrm>
            <a:off x="756535" y="2528316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475569"/>
                </a:solidFill>
              </a:defRPr>
            </a:lvl1pPr>
          </a:lstStyle>
          <a:p>
            <a:pPr/>
            <a:r>
              <a:t>HEIC</a:t>
            </a:r>
          </a:p>
        </p:txBody>
      </p:sp>
      <p:sp>
        <p:nvSpPr>
          <p:cNvPr id="170" name="Text 10"/>
          <p:cNvSpPr txBox="1"/>
          <p:nvPr/>
        </p:nvSpPr>
        <p:spPr>
          <a:xfrm>
            <a:off x="1828800" y="2471229"/>
            <a:ext cx="187452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676655">
              <a:defRPr sz="1036">
                <a:solidFill>
                  <a:srgbClr val="475569"/>
                </a:solidFill>
              </a:defRPr>
            </a:lvl1pPr>
          </a:lstStyle>
          <a:p>
            <a:pPr/>
            <a:r>
              <a:t>лучше конвертировать в JPG перед запуском</a:t>
            </a:r>
          </a:p>
        </p:txBody>
      </p:sp>
      <p:sp>
        <p:nvSpPr>
          <p:cNvPr id="171" name="Shape 11"/>
          <p:cNvSpPr/>
          <p:nvPr/>
        </p:nvSpPr>
        <p:spPr>
          <a:xfrm>
            <a:off x="4343400" y="2286000"/>
            <a:ext cx="3246121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72" name="Text 12"/>
          <p:cNvSpPr txBox="1"/>
          <p:nvPr/>
        </p:nvSpPr>
        <p:spPr>
          <a:xfrm>
            <a:off x="4423520" y="2528316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475569"/>
                </a:solidFill>
              </a:defRPr>
            </a:lvl1pPr>
          </a:lstStyle>
          <a:p>
            <a:pPr/>
            <a:r>
              <a:t>WEBP/TIFF</a:t>
            </a:r>
          </a:p>
        </p:txBody>
      </p:sp>
      <p:sp>
        <p:nvSpPr>
          <p:cNvPr id="173" name="Text 13"/>
          <p:cNvSpPr txBox="1"/>
          <p:nvPr/>
        </p:nvSpPr>
        <p:spPr>
          <a:xfrm>
            <a:off x="5486400" y="2432304"/>
            <a:ext cx="187452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676655">
              <a:defRPr sz="1036">
                <a:solidFill>
                  <a:srgbClr val="475569"/>
                </a:solidFill>
              </a:defRPr>
            </a:lvl1pPr>
          </a:lstStyle>
          <a:p>
            <a:pPr/>
            <a:r>
              <a:t>не основной формат, зависит от поддержки OpenCV</a:t>
            </a:r>
          </a:p>
        </p:txBody>
      </p:sp>
      <p:sp>
        <p:nvSpPr>
          <p:cNvPr id="174" name="Shape 14"/>
          <p:cNvSpPr/>
          <p:nvPr/>
        </p:nvSpPr>
        <p:spPr>
          <a:xfrm>
            <a:off x="8183880" y="1325880"/>
            <a:ext cx="2926081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75" name="Text 15"/>
          <p:cNvSpPr txBox="1"/>
          <p:nvPr/>
        </p:nvSpPr>
        <p:spPr>
          <a:xfrm>
            <a:off x="8394192" y="1572767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Требования к фото</a:t>
            </a:r>
          </a:p>
        </p:txBody>
      </p:sp>
      <p:sp>
        <p:nvSpPr>
          <p:cNvPr id="176" name="Text 16"/>
          <p:cNvSpPr txBox="1"/>
          <p:nvPr/>
        </p:nvSpPr>
        <p:spPr>
          <a:xfrm>
            <a:off x="8394192" y="1938527"/>
            <a:ext cx="2331721" cy="150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 defTabSz="786384">
              <a:defRPr sz="1204">
                <a:solidFill>
                  <a:srgbClr val="475569"/>
                </a:solidFill>
              </a:defRPr>
            </a:pPr>
            <a:r>
              <a:t>человек виден от головы до таза, лучше в полный рост</a:t>
            </a:r>
          </a:p>
          <a:p>
            <a:pPr defTabSz="786384">
              <a:defRPr sz="1204">
                <a:solidFill>
                  <a:srgbClr val="475569"/>
                </a:solidFill>
              </a:defRPr>
            </a:pPr>
            <a:r>
              <a:t>съемка сбоку или строго спереди</a:t>
            </a:r>
          </a:p>
          <a:p>
            <a:pPr defTabSz="786384">
              <a:defRPr sz="1204">
                <a:solidFill>
                  <a:srgbClr val="475569"/>
                </a:solidFill>
              </a:defRPr>
            </a:pPr>
            <a:r>
              <a:t>камера без сильного наклона</a:t>
            </a:r>
          </a:p>
          <a:p>
            <a:pPr defTabSz="786384">
              <a:defRPr sz="1204">
                <a:solidFill>
                  <a:srgbClr val="475569"/>
                </a:solidFill>
              </a:defRPr>
            </a:pPr>
            <a:r>
              <a:t>плечи и таз не закрыты одеждой</a:t>
            </a:r>
          </a:p>
          <a:p>
            <a:pPr defTabSz="786384">
              <a:defRPr sz="1204">
                <a:solidFill>
                  <a:srgbClr val="475569"/>
                </a:solidFill>
              </a:defRPr>
            </a:pPr>
            <a:r>
              <a:t>светлый фон и хорошее освещение</a:t>
            </a:r>
          </a:p>
        </p:txBody>
      </p:sp>
      <p:sp>
        <p:nvSpPr>
          <p:cNvPr id="177" name="Shape 17"/>
          <p:cNvSpPr/>
          <p:nvPr/>
        </p:nvSpPr>
        <p:spPr>
          <a:xfrm>
            <a:off x="1005839" y="4434840"/>
            <a:ext cx="10012682" cy="713233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8890">
            <a:solidFill>
              <a:srgbClr val="86EFAC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178" name="Text 18"/>
          <p:cNvSpPr txBox="1"/>
          <p:nvPr/>
        </p:nvSpPr>
        <p:spPr>
          <a:xfrm>
            <a:off x="1234440" y="4681728"/>
            <a:ext cx="950976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49808">
              <a:defRPr sz="1148">
                <a:solidFill>
                  <a:srgbClr val="0F172A"/>
                </a:solidFill>
              </a:defRPr>
            </a:lvl1pPr>
          </a:lstStyle>
          <a:p>
            <a:pPr/>
            <a:r>
              <a:t>В коде изображение открывается через OpenCV: если cv2.imread не смог прочитать файл, программа просит использовать JPG или PNG.</a:t>
            </a:r>
          </a:p>
        </p:txBody>
      </p:sp>
      <p:sp>
        <p:nvSpPr>
          <p:cNvPr id="179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301909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Реализация: что выдает программа</a:t>
            </a:r>
          </a:p>
        </p:txBody>
      </p:sp>
      <p:sp>
        <p:nvSpPr>
          <p:cNvPr id="182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Финальный продукт не только выводит число, но сохраняет материалы для отчета и дальнейшей обработки.</a:t>
            </a:r>
          </a:p>
        </p:txBody>
      </p:sp>
      <p:sp>
        <p:nvSpPr>
          <p:cNvPr id="183" name="Shape 2"/>
          <p:cNvSpPr/>
          <p:nvPr/>
        </p:nvSpPr>
        <p:spPr>
          <a:xfrm>
            <a:off x="685800" y="1325880"/>
            <a:ext cx="4754880" cy="4160521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3"/>
          <p:cNvSpPr txBox="1"/>
          <p:nvPr/>
        </p:nvSpPr>
        <p:spPr>
          <a:xfrm>
            <a:off x="932688" y="1591055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Команда запуска</a:t>
            </a:r>
          </a:p>
        </p:txBody>
      </p:sp>
      <p:grpSp>
        <p:nvGrpSpPr>
          <p:cNvPr id="187" name="Text 4"/>
          <p:cNvGrpSpPr/>
          <p:nvPr/>
        </p:nvGrpSpPr>
        <p:grpSpPr>
          <a:xfrm>
            <a:off x="932688" y="1956816"/>
            <a:ext cx="4251960" cy="1143001"/>
            <a:chOff x="0" y="0"/>
            <a:chExt cx="4251959" cy="1143000"/>
          </a:xfrm>
        </p:grpSpPr>
        <p:sp>
          <p:nvSpPr>
            <p:cNvPr id="185" name="Rectangle"/>
            <p:cNvSpPr/>
            <p:nvPr/>
          </p:nvSpPr>
          <p:spPr>
            <a:xfrm>
              <a:off x="0" y="0"/>
              <a:ext cx="4251960" cy="1143000"/>
            </a:xfrm>
            <a:prstGeom prst="rect">
              <a:avLst/>
            </a:prstGeom>
            <a:solidFill>
              <a:srgbClr val="11182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800"/>
              </a:pPr>
            </a:p>
          </p:txBody>
        </p:sp>
        <p:sp>
          <p:nvSpPr>
            <p:cNvPr id="186" name="$ python posture_analyzer.py good5.JPG…"/>
            <p:cNvSpPr txBox="1"/>
            <p:nvPr/>
          </p:nvSpPr>
          <p:spPr>
            <a:xfrm>
              <a:off x="0" y="0"/>
              <a:ext cx="4251960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23" tIns="1523" rIns="1523" bIns="1523" numCol="1" anchor="ctr">
              <a:normAutofit fontScale="100000" lnSpcReduction="0"/>
            </a:bodyPr>
            <a:lstStyle/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$ python posture_analyzer.py good5.JPG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Готово. Итоговая оценка: 84/100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Размеченное фото: results/good5_posture.png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Текстовый отчет: results/good5_report.txt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JSON-отчет: results/good5_report.json</a:t>
              </a:r>
            </a:p>
          </p:txBody>
        </p:sp>
      </p:grpSp>
      <p:sp>
        <p:nvSpPr>
          <p:cNvPr id="188" name="Text 5"/>
          <p:cNvSpPr txBox="1"/>
          <p:nvPr/>
        </p:nvSpPr>
        <p:spPr>
          <a:xfrm>
            <a:off x="932688" y="3429000"/>
            <a:ext cx="210312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Файлы результата</a:t>
            </a:r>
          </a:p>
        </p:txBody>
      </p:sp>
      <p:sp>
        <p:nvSpPr>
          <p:cNvPr id="189" name="Text 6"/>
          <p:cNvSpPr txBox="1"/>
          <p:nvPr/>
        </p:nvSpPr>
        <p:spPr>
          <a:xfrm>
            <a:off x="932688" y="3767328"/>
            <a:ext cx="4114801" cy="1005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PNG: фото с разметкой точек и линий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TXT: читаемый отчет для защиты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JSON: структурированные значения метрик</a:t>
            </a:r>
          </a:p>
        </p:txBody>
      </p:sp>
      <p:pic>
        <p:nvPicPr>
          <p:cNvPr id="1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70716" y="1143000"/>
            <a:ext cx="3374968" cy="448056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09610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Эксперимент: сравнение результатов</a:t>
            </a:r>
          </a:p>
        </p:txBody>
      </p:sp>
      <p:sp>
        <p:nvSpPr>
          <p:cNvPr id="194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На трех тестовых снимках программа различает степень выраженности признаков.</a:t>
            </a:r>
          </a:p>
        </p:txBody>
      </p:sp>
      <p:sp>
        <p:nvSpPr>
          <p:cNvPr id="195" name="Shape 2"/>
          <p:cNvSpPr/>
          <p:nvPr/>
        </p:nvSpPr>
        <p:spPr>
          <a:xfrm>
            <a:off x="594359" y="1234439"/>
            <a:ext cx="3520442" cy="256032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3"/>
          <p:cNvSpPr txBox="1"/>
          <p:nvPr/>
        </p:nvSpPr>
        <p:spPr>
          <a:xfrm>
            <a:off x="740663" y="1362455"/>
            <a:ext cx="3227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bad21.jpg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2971800" y="1379634"/>
            <a:ext cx="96012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DC2626"/>
                </a:solidFill>
              </a:defRPr>
            </a:lvl1pPr>
          </a:lstStyle>
          <a:p>
            <a:pPr/>
            <a:r>
              <a:t>64/100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740663" y="1636776"/>
            <a:ext cx="3227834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475569"/>
                </a:solidFill>
              </a:defRPr>
            </a:lvl1pPr>
          </a:lstStyle>
          <a:p>
            <a:pPr/>
            <a:r>
              <a:t>фото сбоку (правая сторона)</a:t>
            </a:r>
          </a:p>
        </p:txBody>
      </p:sp>
      <p:sp>
        <p:nvSpPr>
          <p:cNvPr id="199" name="Shape 6"/>
          <p:cNvSpPr/>
          <p:nvPr/>
        </p:nvSpPr>
        <p:spPr>
          <a:xfrm>
            <a:off x="740663" y="1947672"/>
            <a:ext cx="64009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7"/>
          <p:cNvSpPr txBox="1"/>
          <p:nvPr/>
        </p:nvSpPr>
        <p:spPr>
          <a:xfrm>
            <a:off x="868680" y="1920239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Выдвижение головы вперед: 30.09 %</a:t>
            </a:r>
          </a:p>
        </p:txBody>
      </p:sp>
      <p:sp>
        <p:nvSpPr>
          <p:cNvPr id="201" name="Shape 8"/>
          <p:cNvSpPr/>
          <p:nvPr/>
        </p:nvSpPr>
        <p:spPr>
          <a:xfrm>
            <a:off x="740663" y="2194560"/>
            <a:ext cx="64009" cy="10972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9"/>
          <p:cNvSpPr txBox="1"/>
          <p:nvPr/>
        </p:nvSpPr>
        <p:spPr>
          <a:xfrm>
            <a:off x="868680" y="2167127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шеи: 30.73 град.</a:t>
            </a:r>
          </a:p>
        </p:txBody>
      </p:sp>
      <p:sp>
        <p:nvSpPr>
          <p:cNvPr id="203" name="Shape 10"/>
          <p:cNvSpPr/>
          <p:nvPr/>
        </p:nvSpPr>
        <p:spPr>
          <a:xfrm>
            <a:off x="740663" y="2441448"/>
            <a:ext cx="64009" cy="10972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11"/>
          <p:cNvSpPr txBox="1"/>
          <p:nvPr/>
        </p:nvSpPr>
        <p:spPr>
          <a:xfrm>
            <a:off x="868680" y="2414016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корпуса: 4.5 град.</a:t>
            </a:r>
          </a:p>
        </p:txBody>
      </p:sp>
      <p:sp>
        <p:nvSpPr>
          <p:cNvPr id="205" name="Shape 12"/>
          <p:cNvSpPr/>
          <p:nvPr/>
        </p:nvSpPr>
        <p:spPr>
          <a:xfrm>
            <a:off x="740663" y="2688335"/>
            <a:ext cx="64009" cy="10972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3"/>
          <p:cNvSpPr txBox="1"/>
          <p:nvPr/>
        </p:nvSpPr>
        <p:spPr>
          <a:xfrm>
            <a:off x="868680" y="2660904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Смещение плеча относительно таза: 7.85 %</a:t>
            </a:r>
          </a:p>
        </p:txBody>
      </p:sp>
      <p:sp>
        <p:nvSpPr>
          <p:cNvPr id="207" name="Shape 14"/>
          <p:cNvSpPr/>
          <p:nvPr/>
        </p:nvSpPr>
        <p:spPr>
          <a:xfrm>
            <a:off x="4343400" y="1234439"/>
            <a:ext cx="3520441" cy="256032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5"/>
          <p:cNvSpPr txBox="1"/>
          <p:nvPr/>
        </p:nvSpPr>
        <p:spPr>
          <a:xfrm>
            <a:off x="4489703" y="1362455"/>
            <a:ext cx="322783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good4.jpg</a:t>
            </a:r>
          </a:p>
        </p:txBody>
      </p:sp>
      <p:sp>
        <p:nvSpPr>
          <p:cNvPr id="209" name="Text 16"/>
          <p:cNvSpPr txBox="1"/>
          <p:nvPr/>
        </p:nvSpPr>
        <p:spPr>
          <a:xfrm>
            <a:off x="6720840" y="1379634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DC2626"/>
                </a:solidFill>
              </a:defRPr>
            </a:lvl1pPr>
          </a:lstStyle>
          <a:p>
            <a:pPr/>
            <a:r>
              <a:t>68/100</a:t>
            </a:r>
          </a:p>
        </p:txBody>
      </p:sp>
      <p:sp>
        <p:nvSpPr>
          <p:cNvPr id="210" name="Text 17"/>
          <p:cNvSpPr txBox="1"/>
          <p:nvPr/>
        </p:nvSpPr>
        <p:spPr>
          <a:xfrm>
            <a:off x="4489703" y="1636776"/>
            <a:ext cx="322783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475569"/>
                </a:solidFill>
              </a:defRPr>
            </a:lvl1pPr>
          </a:lstStyle>
          <a:p>
            <a:pPr/>
            <a:r>
              <a:t>фото сбоку (левая сторона)</a:t>
            </a:r>
          </a:p>
        </p:txBody>
      </p:sp>
      <p:sp>
        <p:nvSpPr>
          <p:cNvPr id="211" name="Shape 18"/>
          <p:cNvSpPr/>
          <p:nvPr/>
        </p:nvSpPr>
        <p:spPr>
          <a:xfrm>
            <a:off x="4489703" y="1947672"/>
            <a:ext cx="64009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19"/>
          <p:cNvSpPr txBox="1"/>
          <p:nvPr/>
        </p:nvSpPr>
        <p:spPr>
          <a:xfrm>
            <a:off x="4617720" y="1920239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Выдвижение головы вперед: 15.08 %</a:t>
            </a:r>
          </a:p>
        </p:txBody>
      </p:sp>
      <p:sp>
        <p:nvSpPr>
          <p:cNvPr id="213" name="Shape 20"/>
          <p:cNvSpPr/>
          <p:nvPr/>
        </p:nvSpPr>
        <p:spPr>
          <a:xfrm>
            <a:off x="4489703" y="2194560"/>
            <a:ext cx="64009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1"/>
          <p:cNvSpPr txBox="1"/>
          <p:nvPr/>
        </p:nvSpPr>
        <p:spPr>
          <a:xfrm>
            <a:off x="4617720" y="2167127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шеи: 19.85 град.</a:t>
            </a:r>
          </a:p>
        </p:txBody>
      </p:sp>
      <p:sp>
        <p:nvSpPr>
          <p:cNvPr id="215" name="Shape 22"/>
          <p:cNvSpPr/>
          <p:nvPr/>
        </p:nvSpPr>
        <p:spPr>
          <a:xfrm>
            <a:off x="4489703" y="2441448"/>
            <a:ext cx="64009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23"/>
          <p:cNvSpPr txBox="1"/>
          <p:nvPr/>
        </p:nvSpPr>
        <p:spPr>
          <a:xfrm>
            <a:off x="4617720" y="2414016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корпуса: 8.36 град.</a:t>
            </a:r>
          </a:p>
        </p:txBody>
      </p:sp>
      <p:sp>
        <p:nvSpPr>
          <p:cNvPr id="217" name="Shape 24"/>
          <p:cNvSpPr/>
          <p:nvPr/>
        </p:nvSpPr>
        <p:spPr>
          <a:xfrm>
            <a:off x="4489703" y="2688335"/>
            <a:ext cx="64009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25"/>
          <p:cNvSpPr txBox="1"/>
          <p:nvPr/>
        </p:nvSpPr>
        <p:spPr>
          <a:xfrm>
            <a:off x="4617720" y="2660904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Смещение плеча относительно таза: 14.53 %</a:t>
            </a:r>
          </a:p>
        </p:txBody>
      </p:sp>
      <p:sp>
        <p:nvSpPr>
          <p:cNvPr id="219" name="Shape 26"/>
          <p:cNvSpPr/>
          <p:nvPr/>
        </p:nvSpPr>
        <p:spPr>
          <a:xfrm>
            <a:off x="8092440" y="1234439"/>
            <a:ext cx="3520441" cy="256032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27"/>
          <p:cNvSpPr txBox="1"/>
          <p:nvPr/>
        </p:nvSpPr>
        <p:spPr>
          <a:xfrm>
            <a:off x="8238743" y="1362455"/>
            <a:ext cx="322783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good5.jpg</a:t>
            </a:r>
          </a:p>
        </p:txBody>
      </p:sp>
      <p:sp>
        <p:nvSpPr>
          <p:cNvPr id="221" name="Text 28"/>
          <p:cNvSpPr txBox="1"/>
          <p:nvPr/>
        </p:nvSpPr>
        <p:spPr>
          <a:xfrm>
            <a:off x="10469880" y="1379634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16A34A"/>
                </a:solidFill>
              </a:defRPr>
            </a:lvl1pPr>
          </a:lstStyle>
          <a:p>
            <a:pPr/>
            <a:r>
              <a:t>84/100</a:t>
            </a:r>
          </a:p>
        </p:txBody>
      </p:sp>
      <p:sp>
        <p:nvSpPr>
          <p:cNvPr id="222" name="Text 29"/>
          <p:cNvSpPr txBox="1"/>
          <p:nvPr/>
        </p:nvSpPr>
        <p:spPr>
          <a:xfrm>
            <a:off x="8238743" y="1636776"/>
            <a:ext cx="322783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475569"/>
                </a:solidFill>
              </a:defRPr>
            </a:lvl1pPr>
          </a:lstStyle>
          <a:p>
            <a:pPr/>
            <a:r>
              <a:t>фото сбоку (левая сторона)</a:t>
            </a:r>
          </a:p>
        </p:txBody>
      </p:sp>
      <p:sp>
        <p:nvSpPr>
          <p:cNvPr id="223" name="Shape 30"/>
          <p:cNvSpPr/>
          <p:nvPr/>
        </p:nvSpPr>
        <p:spPr>
          <a:xfrm>
            <a:off x="8238743" y="1947672"/>
            <a:ext cx="64009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31"/>
          <p:cNvSpPr txBox="1"/>
          <p:nvPr/>
        </p:nvSpPr>
        <p:spPr>
          <a:xfrm>
            <a:off x="8366759" y="1920239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Выдвижение головы вперед: 8.23 %</a:t>
            </a:r>
          </a:p>
        </p:txBody>
      </p:sp>
      <p:sp>
        <p:nvSpPr>
          <p:cNvPr id="225" name="Shape 32"/>
          <p:cNvSpPr/>
          <p:nvPr/>
        </p:nvSpPr>
        <p:spPr>
          <a:xfrm>
            <a:off x="8238743" y="2194560"/>
            <a:ext cx="64009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33"/>
          <p:cNvSpPr txBox="1"/>
          <p:nvPr/>
        </p:nvSpPr>
        <p:spPr>
          <a:xfrm>
            <a:off x="8366759" y="2167127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шеи: 15.43 град.</a:t>
            </a:r>
          </a:p>
        </p:txBody>
      </p:sp>
      <p:sp>
        <p:nvSpPr>
          <p:cNvPr id="227" name="Shape 34"/>
          <p:cNvSpPr/>
          <p:nvPr/>
        </p:nvSpPr>
        <p:spPr>
          <a:xfrm>
            <a:off x="8238743" y="2441448"/>
            <a:ext cx="64009" cy="10972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35"/>
          <p:cNvSpPr txBox="1"/>
          <p:nvPr/>
        </p:nvSpPr>
        <p:spPr>
          <a:xfrm>
            <a:off x="8366759" y="2414016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Наклон корпуса: 1.51 град.</a:t>
            </a:r>
          </a:p>
        </p:txBody>
      </p:sp>
      <p:sp>
        <p:nvSpPr>
          <p:cNvPr id="229" name="Shape 36"/>
          <p:cNvSpPr/>
          <p:nvPr/>
        </p:nvSpPr>
        <p:spPr>
          <a:xfrm>
            <a:off x="8238743" y="2688335"/>
            <a:ext cx="64009" cy="10972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37"/>
          <p:cNvSpPr txBox="1"/>
          <p:nvPr/>
        </p:nvSpPr>
        <p:spPr>
          <a:xfrm>
            <a:off x="8366759" y="2660904"/>
            <a:ext cx="309981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700">
                <a:solidFill>
                  <a:srgbClr val="0F172A"/>
                </a:solidFill>
              </a:defRPr>
            </a:lvl1pPr>
          </a:lstStyle>
          <a:p>
            <a:pPr/>
            <a:r>
              <a:t>Смещение плеча относительно таза: 2.63 %</a:t>
            </a:r>
          </a:p>
        </p:txBody>
      </p:sp>
      <p:sp>
        <p:nvSpPr>
          <p:cNvPr id="231" name="Shape 38"/>
          <p:cNvSpPr/>
          <p:nvPr/>
        </p:nvSpPr>
        <p:spPr>
          <a:xfrm>
            <a:off x="694943" y="4343400"/>
            <a:ext cx="10945370" cy="822961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39"/>
          <p:cNvSpPr txBox="1"/>
          <p:nvPr/>
        </p:nvSpPr>
        <p:spPr>
          <a:xfrm>
            <a:off x="955004" y="4672584"/>
            <a:ext cx="15544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0F172A"/>
                </a:solidFill>
              </a:defRPr>
            </a:lvl1pPr>
          </a:lstStyle>
          <a:p>
            <a:pPr/>
            <a:r>
              <a:t>bad21</a:t>
            </a:r>
          </a:p>
        </p:txBody>
      </p:sp>
      <p:sp>
        <p:nvSpPr>
          <p:cNvPr id="233" name="Shape 40"/>
          <p:cNvSpPr/>
          <p:nvPr/>
        </p:nvSpPr>
        <p:spPr>
          <a:xfrm>
            <a:off x="1485237" y="4721097"/>
            <a:ext cx="2377441" cy="10972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hape 41"/>
          <p:cNvSpPr/>
          <p:nvPr/>
        </p:nvSpPr>
        <p:spPr>
          <a:xfrm>
            <a:off x="1489607" y="4721097"/>
            <a:ext cx="1521563" cy="10972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42"/>
          <p:cNvSpPr txBox="1"/>
          <p:nvPr/>
        </p:nvSpPr>
        <p:spPr>
          <a:xfrm>
            <a:off x="2940463" y="4499102"/>
            <a:ext cx="3657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DC2626"/>
                </a:solidFill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236" name="Text 43"/>
          <p:cNvSpPr txBox="1"/>
          <p:nvPr/>
        </p:nvSpPr>
        <p:spPr>
          <a:xfrm>
            <a:off x="4530831" y="4672584"/>
            <a:ext cx="15544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0F172A"/>
                </a:solidFill>
              </a:defRPr>
            </a:lvl1pPr>
          </a:lstStyle>
          <a:p>
            <a:pPr/>
            <a:r>
              <a:t>good4</a:t>
            </a:r>
          </a:p>
        </p:txBody>
      </p:sp>
      <p:sp>
        <p:nvSpPr>
          <p:cNvPr id="237" name="Shape 44"/>
          <p:cNvSpPr/>
          <p:nvPr/>
        </p:nvSpPr>
        <p:spPr>
          <a:xfrm>
            <a:off x="5201628" y="4700016"/>
            <a:ext cx="2377441" cy="10972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45"/>
          <p:cNvSpPr/>
          <p:nvPr/>
        </p:nvSpPr>
        <p:spPr>
          <a:xfrm>
            <a:off x="5201628" y="4700016"/>
            <a:ext cx="1616660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46"/>
          <p:cNvSpPr txBox="1"/>
          <p:nvPr/>
        </p:nvSpPr>
        <p:spPr>
          <a:xfrm>
            <a:off x="6694619" y="4491101"/>
            <a:ext cx="3657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F59E0B"/>
                </a:solidFill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240" name="Text 47"/>
          <p:cNvSpPr txBox="1"/>
          <p:nvPr/>
        </p:nvSpPr>
        <p:spPr>
          <a:xfrm>
            <a:off x="8183880" y="4672584"/>
            <a:ext cx="15544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0F172A"/>
                </a:solidFill>
              </a:defRPr>
            </a:lvl1pPr>
          </a:lstStyle>
          <a:p>
            <a:pPr/>
            <a:r>
              <a:t>good5</a:t>
            </a:r>
          </a:p>
        </p:txBody>
      </p:sp>
      <p:sp>
        <p:nvSpPr>
          <p:cNvPr id="241" name="Shape 48"/>
          <p:cNvSpPr/>
          <p:nvPr/>
        </p:nvSpPr>
        <p:spPr>
          <a:xfrm>
            <a:off x="8783504" y="4685029"/>
            <a:ext cx="2377441" cy="10972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49"/>
          <p:cNvSpPr/>
          <p:nvPr/>
        </p:nvSpPr>
        <p:spPr>
          <a:xfrm>
            <a:off x="8783504" y="4678934"/>
            <a:ext cx="1997051" cy="10972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50"/>
          <p:cNvSpPr txBox="1"/>
          <p:nvPr/>
        </p:nvSpPr>
        <p:spPr>
          <a:xfrm>
            <a:off x="10692801" y="4449953"/>
            <a:ext cx="3657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96111">
              <a:defRPr sz="1176">
                <a:solidFill>
                  <a:srgbClr val="16A34A"/>
                </a:solidFill>
              </a:defRPr>
            </a:lvl1pPr>
          </a:lstStyle>
          <a:p>
            <a:pPr/>
            <a:r>
              <a:t>84</a:t>
            </a:r>
          </a:p>
        </p:txBody>
      </p:sp>
      <p:sp>
        <p:nvSpPr>
          <p:cNvPr id="244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Размеченные фото и отчеты</a:t>
            </a:r>
          </a:p>
        </p:txBody>
      </p:sp>
      <p:pic>
        <p:nvPicPr>
          <p:cNvPr id="2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1327520"/>
            <a:ext cx="3108961" cy="3882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17242" y="1143000"/>
            <a:ext cx="2646876" cy="42519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86600" y="1205274"/>
            <a:ext cx="3108961" cy="4127413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Shape 2"/>
          <p:cNvSpPr/>
          <p:nvPr/>
        </p:nvSpPr>
        <p:spPr>
          <a:xfrm>
            <a:off x="1143000" y="5504688"/>
            <a:ext cx="2194561" cy="237745"/>
          </a:xfrm>
          <a:prstGeom prst="roundRect">
            <a:avLst>
              <a:gd name="adj" fmla="val 30769"/>
            </a:avLst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3"/>
          <p:cNvSpPr txBox="1"/>
          <p:nvPr/>
        </p:nvSpPr>
        <p:spPr>
          <a:xfrm>
            <a:off x="1216152" y="5541264"/>
            <a:ext cx="2048257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bad21_report.txt/json</a:t>
            </a:r>
          </a:p>
        </p:txBody>
      </p:sp>
      <p:sp>
        <p:nvSpPr>
          <p:cNvPr id="252" name="Shape 4"/>
          <p:cNvSpPr/>
          <p:nvPr/>
        </p:nvSpPr>
        <p:spPr>
          <a:xfrm>
            <a:off x="4370832" y="5504688"/>
            <a:ext cx="2194561" cy="237745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5"/>
          <p:cNvSpPr txBox="1"/>
          <p:nvPr/>
        </p:nvSpPr>
        <p:spPr>
          <a:xfrm>
            <a:off x="4443984" y="5541264"/>
            <a:ext cx="2048257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good4_report.txt/json</a:t>
            </a:r>
          </a:p>
        </p:txBody>
      </p:sp>
      <p:sp>
        <p:nvSpPr>
          <p:cNvPr id="254" name="Shape 6"/>
          <p:cNvSpPr/>
          <p:nvPr/>
        </p:nvSpPr>
        <p:spPr>
          <a:xfrm>
            <a:off x="7571231" y="5504688"/>
            <a:ext cx="2194561" cy="237745"/>
          </a:xfrm>
          <a:prstGeom prst="roundRect">
            <a:avLst>
              <a:gd name="adj" fmla="val 30769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7"/>
          <p:cNvSpPr txBox="1"/>
          <p:nvPr/>
        </p:nvSpPr>
        <p:spPr>
          <a:xfrm>
            <a:off x="7644383" y="5541264"/>
            <a:ext cx="2048257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good5_report.txt/json</a:t>
            </a:r>
          </a:p>
        </p:txBody>
      </p:sp>
      <p:sp>
        <p:nvSpPr>
          <p:cNvPr id="256" name="Text 8"/>
          <p:cNvSpPr txBox="1"/>
          <p:nvPr/>
        </p:nvSpPr>
        <p:spPr>
          <a:xfrm>
            <a:off x="713231" y="5897879"/>
            <a:ext cx="77724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800">
                <a:solidFill>
                  <a:srgbClr val="475569"/>
                </a:solidFill>
              </a:defRPr>
            </a:lvl1pPr>
          </a:lstStyle>
          <a:p>
            <a:pPr/>
            <a:r>
              <a:t>Папка с файлами: outputs/posture_presentation_revision/attached_reports</a:t>
            </a:r>
          </a:p>
        </p:txBody>
      </p:sp>
      <p:sp>
        <p:nvSpPr>
          <p:cNvPr id="257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Обучение и метрики качества</a:t>
            </a:r>
          </a:p>
        </p:txBody>
      </p:sp>
      <p:sp>
        <p:nvSpPr>
          <p:cNvPr id="260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Собственное обучение модели не проводилось: используется предобученная YOLO11n-pose.</a:t>
            </a:r>
          </a:p>
        </p:txBody>
      </p:sp>
      <p:sp>
        <p:nvSpPr>
          <p:cNvPr id="261" name="Shape 2"/>
          <p:cNvSpPr/>
          <p:nvPr/>
        </p:nvSpPr>
        <p:spPr>
          <a:xfrm>
            <a:off x="685800" y="1234439"/>
            <a:ext cx="3657600" cy="44348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3"/>
          <p:cNvSpPr txBox="1"/>
          <p:nvPr/>
        </p:nvSpPr>
        <p:spPr>
          <a:xfrm>
            <a:off x="914400" y="1508760"/>
            <a:ext cx="3108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Что можно честно показать сейчас</a:t>
            </a:r>
          </a:p>
        </p:txBody>
      </p:sp>
      <p:sp>
        <p:nvSpPr>
          <p:cNvPr id="263" name="Text 4"/>
          <p:cNvSpPr txBox="1"/>
          <p:nvPr/>
        </p:nvSpPr>
        <p:spPr>
          <a:xfrm>
            <a:off x="914400" y="1874520"/>
            <a:ext cx="3063240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модель .pt лежит в проекте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3 из 3 тестовых фото обработаны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для каждой точки используется confidence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сформированы PNG, TXT и JSON-отчеты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mAP/precision/recall нельзя честно считать без размеченного датасета</a:t>
            </a:r>
          </a:p>
        </p:txBody>
      </p:sp>
      <p:sp>
        <p:nvSpPr>
          <p:cNvPr id="264" name="Text 5"/>
          <p:cNvSpPr txBox="1"/>
          <p:nvPr/>
        </p:nvSpPr>
        <p:spPr>
          <a:xfrm>
            <a:off x="914400" y="4069079"/>
            <a:ext cx="27432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Метрики текущего прототипа</a:t>
            </a:r>
          </a:p>
        </p:txBody>
      </p:sp>
      <p:sp>
        <p:nvSpPr>
          <p:cNvPr id="265" name="Text 6"/>
          <p:cNvSpPr txBox="1"/>
          <p:nvPr/>
        </p:nvSpPr>
        <p:spPr>
          <a:xfrm>
            <a:off x="914400" y="4434840"/>
            <a:ext cx="2834640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success rate = 3/3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score range = 64–84/100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min_visibility = 0.25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backend = YOLO</a:t>
            </a:r>
          </a:p>
        </p:txBody>
      </p:sp>
      <p:sp>
        <p:nvSpPr>
          <p:cNvPr id="266" name="Shape 7"/>
          <p:cNvSpPr/>
          <p:nvPr/>
        </p:nvSpPr>
        <p:spPr>
          <a:xfrm>
            <a:off x="4617720" y="1234439"/>
            <a:ext cx="6812281" cy="4434842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8"/>
          <p:cNvSpPr txBox="1"/>
          <p:nvPr/>
        </p:nvSpPr>
        <p:spPr>
          <a:xfrm>
            <a:off x="4892040" y="1508760"/>
            <a:ext cx="3840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Если дообучать собственную модель</a:t>
            </a:r>
          </a:p>
        </p:txBody>
      </p:sp>
      <p:grpSp>
        <p:nvGrpSpPr>
          <p:cNvPr id="270" name="Text 9"/>
          <p:cNvGrpSpPr/>
          <p:nvPr/>
        </p:nvGrpSpPr>
        <p:grpSpPr>
          <a:xfrm>
            <a:off x="4909092" y="1901951"/>
            <a:ext cx="6335944" cy="1849912"/>
            <a:chOff x="0" y="0"/>
            <a:chExt cx="6335942" cy="1849910"/>
          </a:xfrm>
        </p:grpSpPr>
        <p:sp>
          <p:nvSpPr>
            <p:cNvPr id="268" name="Rectangle"/>
            <p:cNvSpPr/>
            <p:nvPr/>
          </p:nvSpPr>
          <p:spPr>
            <a:xfrm>
              <a:off x="-1" y="0"/>
              <a:ext cx="6335944" cy="1849911"/>
            </a:xfrm>
            <a:prstGeom prst="rect">
              <a:avLst/>
            </a:prstGeom>
            <a:solidFill>
              <a:srgbClr val="11182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800"/>
              </a:pPr>
            </a:p>
          </p:txBody>
        </p:sp>
        <p:sp>
          <p:nvSpPr>
            <p:cNvPr id="269" name="$ yolo pose train model=yolo11n-pose.pt data=posture.yaml imgsz=640 epochs=50…"/>
            <p:cNvSpPr txBox="1"/>
            <p:nvPr/>
          </p:nvSpPr>
          <p:spPr>
            <a:xfrm>
              <a:off x="-1" y="0"/>
              <a:ext cx="6335944" cy="1849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23" tIns="1523" rIns="1523" bIns="1523" numCol="1" anchor="ctr">
              <a:normAutofit fontScale="100000" lnSpcReduction="0"/>
            </a:bodyPr>
            <a:lstStyle/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$ yolo pose train model=yolo11n-pose.pt data=posture.yaml imgsz=640 epochs=50</a:t>
              </a:r>
            </a:p>
            <a:p>
              <a:pPr>
                <a:defRPr sz="800"/>
              </a:pP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после обучения показываются: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train/val box_loss, pose_loss, kobj_loss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precision, recall, mAP50, mAP50-95</a:t>
              </a:r>
            </a:p>
            <a:p>
              <a:pPr>
                <a:defRPr sz="800">
                  <a:solidFill>
                    <a:srgbClr val="D1FAE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PR-curve, confusion matrix, examples val_batch*.jpg</a:t>
              </a:r>
            </a:p>
          </p:txBody>
        </p:sp>
      </p:grpSp>
      <p:sp>
        <p:nvSpPr>
          <p:cNvPr id="271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Экономическая выгода</a:t>
            </a:r>
          </a:p>
        </p:txBody>
      </p:sp>
      <p:sp>
        <p:nvSpPr>
          <p:cNvPr id="274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Проект снижает время первичного просмотра фото и стандартизирует отчет, но не заменяет врача.</a:t>
            </a:r>
          </a:p>
        </p:txBody>
      </p:sp>
      <p:sp>
        <p:nvSpPr>
          <p:cNvPr id="275" name="Shape 2"/>
          <p:cNvSpPr/>
          <p:nvPr/>
        </p:nvSpPr>
        <p:spPr>
          <a:xfrm>
            <a:off x="685800" y="1325880"/>
            <a:ext cx="3337560" cy="1600201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276" name="Text 3"/>
          <p:cNvSpPr txBox="1"/>
          <p:nvPr/>
        </p:nvSpPr>
        <p:spPr>
          <a:xfrm>
            <a:off x="822960" y="1435608"/>
            <a:ext cx="3063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Расчет времени</a:t>
            </a:r>
          </a:p>
        </p:txBody>
      </p:sp>
      <p:sp>
        <p:nvSpPr>
          <p:cNvPr id="277" name="Text 4"/>
          <p:cNvSpPr txBox="1"/>
          <p:nvPr/>
        </p:nvSpPr>
        <p:spPr>
          <a:xfrm>
            <a:off x="832103" y="1719072"/>
            <a:ext cx="3044953" cy="1124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T_manual = N × t_manual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T_auto = N × t_auto + t_check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Экономия времени = T_manual − T_auto</a:t>
            </a:r>
          </a:p>
        </p:txBody>
      </p:sp>
      <p:sp>
        <p:nvSpPr>
          <p:cNvPr id="278" name="Shape 5"/>
          <p:cNvSpPr/>
          <p:nvPr/>
        </p:nvSpPr>
        <p:spPr>
          <a:xfrm>
            <a:off x="4343400" y="1325880"/>
            <a:ext cx="3337560" cy="1600201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279" name="Text 6"/>
          <p:cNvSpPr txBox="1"/>
          <p:nvPr/>
        </p:nvSpPr>
        <p:spPr>
          <a:xfrm>
            <a:off x="4480559" y="1435608"/>
            <a:ext cx="3063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Расчет стоимости</a:t>
            </a:r>
          </a:p>
        </p:txBody>
      </p:sp>
      <p:sp>
        <p:nvSpPr>
          <p:cNvPr id="280" name="Text 7"/>
          <p:cNvSpPr txBox="1"/>
          <p:nvPr/>
        </p:nvSpPr>
        <p:spPr>
          <a:xfrm>
            <a:off x="4489703" y="1719072"/>
            <a:ext cx="3044953" cy="1124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normAutofit fontScale="100000" lnSpcReduction="0"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C_manual = T_manual × ставка / 60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C_auto = T_auto × ставка / 60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Экономия = C_manual − C_auto</a:t>
            </a:r>
          </a:p>
        </p:txBody>
      </p:sp>
      <p:sp>
        <p:nvSpPr>
          <p:cNvPr id="281" name="Shape 8"/>
          <p:cNvSpPr/>
          <p:nvPr/>
        </p:nvSpPr>
        <p:spPr>
          <a:xfrm>
            <a:off x="8001000" y="1325880"/>
            <a:ext cx="3154680" cy="1600201"/>
          </a:xfrm>
          <a:prstGeom prst="roundRect">
            <a:avLst>
              <a:gd name="adj" fmla="val 4571"/>
            </a:avLst>
          </a:prstGeom>
          <a:solidFill>
            <a:srgbClr val="FEFCE8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282" name="Text 9"/>
          <p:cNvSpPr txBox="1"/>
          <p:nvPr/>
        </p:nvSpPr>
        <p:spPr>
          <a:xfrm>
            <a:off x="8229600" y="1572767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Пример оценки</a:t>
            </a:r>
          </a:p>
        </p:txBody>
      </p:sp>
      <p:sp>
        <p:nvSpPr>
          <p:cNvPr id="283" name="Text 10"/>
          <p:cNvSpPr txBox="1"/>
          <p:nvPr/>
        </p:nvSpPr>
        <p:spPr>
          <a:xfrm>
            <a:off x="8229600" y="1920239"/>
            <a:ext cx="256032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/>
          <a:p>
            <a:pPr defTabSz="896111">
              <a:defRPr sz="1176">
                <a:solidFill>
                  <a:srgbClr val="0F172A"/>
                </a:solidFill>
              </a:defRPr>
            </a:pPr>
            <a:r>
              <a:t>N = 30 фото</a:t>
            </a:r>
          </a:p>
          <a:p>
            <a:pPr defTabSz="896111">
              <a:defRPr sz="1176">
                <a:solidFill>
                  <a:srgbClr val="0F172A"/>
                </a:solidFill>
              </a:defRPr>
            </a:pPr>
            <a:r>
              <a:t>t_manual = 6 мин</a:t>
            </a:r>
          </a:p>
          <a:p>
            <a:pPr defTabSz="896111">
              <a:defRPr sz="1176">
                <a:solidFill>
                  <a:srgbClr val="0F172A"/>
                </a:solidFill>
              </a:defRPr>
            </a:pPr>
            <a:r>
              <a:t>t_auto = 0,5 мин + проверка</a:t>
            </a:r>
          </a:p>
          <a:p>
            <a:pPr defTabSz="896111">
              <a:defRPr sz="1176">
                <a:solidFill>
                  <a:srgbClr val="0F172A"/>
                </a:solidFill>
              </a:defRPr>
            </a:pPr>
            <a:r>
              <a:t>ставка = 300 руб/час</a:t>
            </a:r>
          </a:p>
        </p:txBody>
      </p:sp>
      <p:sp>
        <p:nvSpPr>
          <p:cNvPr id="284" name="Shape 11"/>
          <p:cNvSpPr/>
          <p:nvPr/>
        </p:nvSpPr>
        <p:spPr>
          <a:xfrm>
            <a:off x="914400" y="3749040"/>
            <a:ext cx="10149841" cy="960121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285" name="Text 12"/>
          <p:cNvSpPr txBox="1"/>
          <p:nvPr/>
        </p:nvSpPr>
        <p:spPr>
          <a:xfrm>
            <a:off x="1170431" y="3977640"/>
            <a:ext cx="603504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563EB"/>
                </a:solidFill>
              </a:defRPr>
            </a:lvl1pPr>
          </a:lstStyle>
          <a:p>
            <a:pPr/>
            <a:r>
              <a:t>30 фото: вручную ≈ 180 мин, с прототипом ≈ 25–35 мин</a:t>
            </a:r>
          </a:p>
        </p:txBody>
      </p:sp>
      <p:sp>
        <p:nvSpPr>
          <p:cNvPr id="286" name="Text 13"/>
          <p:cNvSpPr txBox="1"/>
          <p:nvPr/>
        </p:nvSpPr>
        <p:spPr>
          <a:xfrm>
            <a:off x="1188720" y="4315967"/>
            <a:ext cx="8961120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>
              <a:defRPr sz="1200">
                <a:solidFill>
                  <a:srgbClr val="0F172A"/>
                </a:solidFill>
              </a:defRPr>
            </a:lvl1pPr>
          </a:lstStyle>
          <a:p>
            <a:pPr/>
            <a:r>
              <a:t>Экономия: около 2–2,5 часов на партии снимков. Числа ориентировочные и должны уточняться на реальном процессе.</a:t>
            </a:r>
          </a:p>
        </p:txBody>
      </p:sp>
      <p:sp>
        <p:nvSpPr>
          <p:cNvPr id="287" name="Shape 14"/>
          <p:cNvSpPr/>
          <p:nvPr/>
        </p:nvSpPr>
        <p:spPr>
          <a:xfrm>
            <a:off x="914400" y="5074920"/>
            <a:ext cx="10149841" cy="530353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8890">
            <a:solidFill>
              <a:srgbClr val="FCA5A5"/>
            </a:solidFill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288" name="Text 15"/>
          <p:cNvSpPr txBox="1"/>
          <p:nvPr/>
        </p:nvSpPr>
        <p:spPr>
          <a:xfrm>
            <a:off x="1170432" y="5257800"/>
            <a:ext cx="9646920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04672">
              <a:defRPr sz="1056">
                <a:solidFill>
                  <a:srgbClr val="0F172A"/>
                </a:solidFill>
              </a:defRPr>
            </a:lvl1pPr>
          </a:lstStyle>
          <a:p>
            <a:pPr/>
            <a:r>
              <a:t>Экономическая польза не в «лечении по фото», а в быстрой предварительной сортировке, повторном мониторинге и автоматической подготовке отчета.</a:t>
            </a:r>
          </a:p>
        </p:txBody>
      </p:sp>
      <p:sp>
        <p:nvSpPr>
          <p:cNvPr id="289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Методические источники</a:t>
            </a:r>
          </a:p>
        </p:txBody>
      </p:sp>
      <p:sp>
        <p:nvSpPr>
          <p:cNvPr id="292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/>
            <a:r>
              <a:t>Эти материалы объясняют, откуда взяты ключевые точки и общий фотограмметрический принцип расчета.</a:t>
            </a:r>
          </a:p>
        </p:txBody>
      </p:sp>
      <p:graphicFrame>
        <p:nvGraphicFramePr>
          <p:cNvPr id="293" name="Table 0"/>
          <p:cNvGraphicFramePr/>
          <p:nvPr/>
        </p:nvGraphicFramePr>
        <p:xfrm>
          <a:off x="640080" y="1234439"/>
          <a:ext cx="10881360" cy="30632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337559"/>
                <a:gridCol w="7543800"/>
              </a:tblGrid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Источник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0F172A"/>
                          </a:solidFill>
                        </a:rPr>
                        <a:t>Что берем для проекта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Ultralytics Docs, Pose Estimation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Pose-модель возвращает keypoints, координаты [x,y] / [x,y,visible] и confidence; COCO-pose содержит 17 точек.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Google AI Edge, MediaPipe Pose Landmarker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MediaPipe возвращает 33 landmarks, image coordinates и world coordinates; хорошо подходит для будущего расширения.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Mylonas et al., 2022, systematic review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Для forward head posture надежность сильнее всего поддержана у классической фотограмметрии.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CVA / photogrammetry studies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Положение головы оценивают углами между ориентирами на фото; в клинике используют маркеры tragus/C7.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posture_analyzer.py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475569"/>
                          </a:solidFill>
                        </a:rPr>
                        <a:t>Наши формулы - адаптация этих принципов к доступным YOLO-точкам; пороги и штрафы учебные.</a:t>
                      </a:r>
                    </a:p>
                  </a:txBody>
                  <a:tcPr marL="64008" marR="64008" marT="64008" marB="64008" anchor="t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4" name="Shape 2"/>
          <p:cNvSpPr/>
          <p:nvPr/>
        </p:nvSpPr>
        <p:spPr>
          <a:xfrm>
            <a:off x="822960" y="4617720"/>
            <a:ext cx="1046988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"/>
          <p:cNvSpPr txBox="1"/>
          <p:nvPr/>
        </p:nvSpPr>
        <p:spPr>
          <a:xfrm>
            <a:off x="1051560" y="4892040"/>
            <a:ext cx="996696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868680">
              <a:defRPr sz="1140">
                <a:solidFill>
                  <a:srgbClr val="0F172A"/>
                </a:solidFill>
              </a:defRPr>
            </a:lvl1pPr>
          </a:lstStyle>
          <a:p>
            <a:pPr/>
            <a:r>
              <a:t>URL: docs.ultralytics.com/tasks/pose/; ai.google.dev/edge/mediapipe/solutions/vision/pose_landmarker; PubMed 35935117; PMC7559098; PMC11957747.</a:t>
            </a:r>
          </a:p>
        </p:txBody>
      </p:sp>
      <p:sp>
        <p:nvSpPr>
          <p:cNvPr id="296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 txBox="1"/>
          <p:nvPr/>
        </p:nvSpPr>
        <p:spPr>
          <a:xfrm>
            <a:off x="502920" y="320040"/>
            <a:ext cx="8046719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0F172A"/>
                </a:solidFill>
              </a:defRPr>
            </a:lvl1pPr>
          </a:lstStyle>
          <a:p>
            <a:pPr/>
            <a:r>
              <a:t>Ограничения и медицинская ответственность</a:t>
            </a:r>
          </a:p>
        </p:txBody>
      </p:sp>
      <p:sp>
        <p:nvSpPr>
          <p:cNvPr id="299" name="Text 1"/>
          <p:cNvSpPr txBox="1"/>
          <p:nvPr/>
        </p:nvSpPr>
        <p:spPr>
          <a:xfrm>
            <a:off x="530351" y="804672"/>
            <a:ext cx="106070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Проект демонстрационный: результат зависит от качества фото и не является диагнозом.</a:t>
            </a:r>
          </a:p>
        </p:txBody>
      </p:sp>
      <p:sp>
        <p:nvSpPr>
          <p:cNvPr id="300" name="Shape 2"/>
          <p:cNvSpPr/>
          <p:nvPr/>
        </p:nvSpPr>
        <p:spPr>
          <a:xfrm>
            <a:off x="777240" y="2049779"/>
            <a:ext cx="4800601" cy="960121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301" name="Text 3"/>
          <p:cNvSpPr txBox="1"/>
          <p:nvPr/>
        </p:nvSpPr>
        <p:spPr>
          <a:xfrm>
            <a:off x="978408" y="2250947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563EB"/>
                </a:solidFill>
              </a:defRPr>
            </a:lvl1pPr>
          </a:lstStyle>
          <a:p>
            <a:pPr/>
            <a:r>
              <a:t>Фото</a:t>
            </a:r>
          </a:p>
        </p:txBody>
      </p:sp>
      <p:sp>
        <p:nvSpPr>
          <p:cNvPr id="302" name="Text 4"/>
          <p:cNvSpPr txBox="1"/>
          <p:nvPr/>
        </p:nvSpPr>
        <p:spPr>
          <a:xfrm>
            <a:off x="1874520" y="2250947"/>
            <a:ext cx="33375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49808">
              <a:defRPr sz="1148">
                <a:solidFill>
                  <a:srgbClr val="0F172A"/>
                </a:solidFill>
              </a:defRPr>
            </a:lvl1pPr>
          </a:lstStyle>
          <a:p>
            <a:pPr/>
            <a:r>
              <a:t>поворот камеры, перспектива и плохое освещение меняют координаты</a:t>
            </a:r>
          </a:p>
        </p:txBody>
      </p:sp>
      <p:sp>
        <p:nvSpPr>
          <p:cNvPr id="303" name="Shape 5"/>
          <p:cNvSpPr/>
          <p:nvPr/>
        </p:nvSpPr>
        <p:spPr>
          <a:xfrm>
            <a:off x="6126479" y="2049779"/>
            <a:ext cx="4800601" cy="960121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304" name="Text 6"/>
          <p:cNvSpPr txBox="1"/>
          <p:nvPr/>
        </p:nvSpPr>
        <p:spPr>
          <a:xfrm>
            <a:off x="6327647" y="2250947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475569"/>
                </a:solidFill>
              </a:defRPr>
            </a:lvl1pPr>
          </a:lstStyle>
          <a:p>
            <a:pPr/>
            <a:r>
              <a:t>Одежда</a:t>
            </a:r>
          </a:p>
        </p:txBody>
      </p:sp>
      <p:sp>
        <p:nvSpPr>
          <p:cNvPr id="305" name="Text 7"/>
          <p:cNvSpPr txBox="1"/>
          <p:nvPr/>
        </p:nvSpPr>
        <p:spPr>
          <a:xfrm>
            <a:off x="7223759" y="2250947"/>
            <a:ext cx="33375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49808">
              <a:defRPr sz="1148">
                <a:solidFill>
                  <a:srgbClr val="0F172A"/>
                </a:solidFill>
              </a:defRPr>
            </a:lvl1pPr>
          </a:lstStyle>
          <a:p>
            <a:pPr/>
            <a:r>
              <a:t>скрытые плечи/таз ухудшают распознавание ключевых точек</a:t>
            </a:r>
          </a:p>
        </p:txBody>
      </p:sp>
      <p:sp>
        <p:nvSpPr>
          <p:cNvPr id="306" name="Shape 8"/>
          <p:cNvSpPr/>
          <p:nvPr/>
        </p:nvSpPr>
        <p:spPr>
          <a:xfrm>
            <a:off x="777240" y="3467100"/>
            <a:ext cx="4800601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307" name="Text 9"/>
          <p:cNvSpPr txBox="1"/>
          <p:nvPr/>
        </p:nvSpPr>
        <p:spPr>
          <a:xfrm>
            <a:off x="978408" y="3668267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F59E0B"/>
                </a:solidFill>
              </a:defRPr>
            </a:lvl1pPr>
          </a:lstStyle>
          <a:p>
            <a:pPr/>
            <a:r>
              <a:t>Данные</a:t>
            </a:r>
          </a:p>
        </p:txBody>
      </p:sp>
      <p:sp>
        <p:nvSpPr>
          <p:cNvPr id="308" name="Text 10"/>
          <p:cNvSpPr txBox="1"/>
          <p:nvPr/>
        </p:nvSpPr>
        <p:spPr>
          <a:xfrm>
            <a:off x="1874520" y="3668267"/>
            <a:ext cx="33375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49808">
              <a:defRPr sz="1148">
                <a:solidFill>
                  <a:srgbClr val="0F172A"/>
                </a:solidFill>
              </a:defRPr>
            </a:lvl1pPr>
          </a:lstStyle>
          <a:p>
            <a:pPr/>
            <a:r>
              <a:t>без размеченного медицинского датасета нельзя считать клиническую точность</a:t>
            </a:r>
          </a:p>
        </p:txBody>
      </p:sp>
      <p:sp>
        <p:nvSpPr>
          <p:cNvPr id="309" name="Shape 11"/>
          <p:cNvSpPr/>
          <p:nvPr/>
        </p:nvSpPr>
        <p:spPr>
          <a:xfrm>
            <a:off x="6126479" y="3467100"/>
            <a:ext cx="4800601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889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310" name="Text 12"/>
          <p:cNvSpPr txBox="1"/>
          <p:nvPr/>
        </p:nvSpPr>
        <p:spPr>
          <a:xfrm>
            <a:off x="6327647" y="3668267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DC2626"/>
                </a:solidFill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311" name="Text 13"/>
          <p:cNvSpPr txBox="1"/>
          <p:nvPr/>
        </p:nvSpPr>
        <p:spPr>
          <a:xfrm>
            <a:off x="7223759" y="3668267"/>
            <a:ext cx="33375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>
            <a:normAutofit fontScale="100000" lnSpcReduction="0"/>
          </a:bodyPr>
          <a:lstStyle>
            <a:lvl1pPr defTabSz="749808">
              <a:defRPr sz="1148">
                <a:solidFill>
                  <a:srgbClr val="0F172A"/>
                </a:solidFill>
              </a:defRPr>
            </a:lvl1pPr>
          </a:lstStyle>
          <a:p>
            <a:pPr/>
            <a:r>
              <a:t>итоговый вывод должен делать специалист, а не алгоритм</a:t>
            </a:r>
          </a:p>
        </p:txBody>
      </p:sp>
      <p:sp>
        <p:nvSpPr>
          <p:cNvPr id="312" name="Slide Number Placeholder 0"/>
          <p:cNvSpPr txBox="1"/>
          <p:nvPr>
            <p:ph type="sldNum" sz="quarter" idx="4294967295"/>
          </p:nvPr>
        </p:nvSpPr>
        <p:spPr>
          <a:xfrm>
            <a:off x="11384280" y="6547104"/>
            <a:ext cx="217151" cy="2024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7F9F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